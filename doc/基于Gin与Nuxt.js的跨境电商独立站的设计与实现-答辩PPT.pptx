
<file path=[Content_Types].xml><?xml version="1.0" encoding="utf-8"?>
<Types xmlns="http://schemas.openxmlformats.org/package/2006/content-types">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Master+xml" PartName="/ppt/slideMasters/slideMaster1.xml"/>
  <Override ContentType="application/vnd.openxmlformats-officedocument.presentationml.slideMaster+xml" PartName="/ppt/slideMasters/slideMaster2.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core.xml" Type="http://schemas.openxmlformats.org/package/2006/relationships/metadata/core-properties"/></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 id="2147483660" r:id="rId8"/>
  </p:sldMasterIdLst>
  <p:notesMasterIdLst>
    <p:notesMasterId r:id="rId6"/>
  </p:notesMasterIdLst>
  <p:sldIdLst>
    <p:sldId id="256" r:id="rId9"/>
    <p:sldId id="257" r:id="rId10"/>
    <p:sldId id="258" r:id="rId11"/>
    <p:sldId id="259" r:id="rId12"/>
    <p:sldId id="260" r:id="rId13"/>
    <p:sldId id="261" r:id="rId14"/>
    <p:sldId id="262" r:id="rId15"/>
    <p:sldId id="263" r:id="rId16"/>
    <p:sldId id="264" r:id="rId17"/>
    <p:sldId id="265" r:id="rId18"/>
    <p:sldId id="266" r:id="rId19"/>
  </p:sldIdLst>
  <p:sldSz cx="12192000" cy="6858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Relationships xmlns="http://schemas.openxmlformats.org/package/2006/relationships"><Relationship Id="rId1" Target="theme/theme1.xml" Type="http://schemas.openxmlformats.org/officeDocument/2006/relationships/theme"/><Relationship Id="rId10" Target="slides/slide2.xml" Type="http://schemas.openxmlformats.org/officeDocument/2006/relationships/slide"/><Relationship Id="rId11" Target="slides/slide3.xml" Type="http://schemas.openxmlformats.org/officeDocument/2006/relationships/slide"/><Relationship Id="rId12" Target="slides/slide4.xml" Type="http://schemas.openxmlformats.org/officeDocument/2006/relationships/slide"/><Relationship Id="rId13" Target="slides/slide5.xml" Type="http://schemas.openxmlformats.org/officeDocument/2006/relationships/slide"/><Relationship Id="rId14" Target="slides/slide6.xml" Type="http://schemas.openxmlformats.org/officeDocument/2006/relationships/slide"/><Relationship Id="rId15" Target="slides/slide7.xml" Type="http://schemas.openxmlformats.org/officeDocument/2006/relationships/slide"/><Relationship Id="rId16" Target="slides/slide8.xml" Type="http://schemas.openxmlformats.org/officeDocument/2006/relationships/slide"/><Relationship Id="rId17" Target="slides/slide9.xml" Type="http://schemas.openxmlformats.org/officeDocument/2006/relationships/slide"/><Relationship Id="rId18" Target="slides/slide10.xml" Type="http://schemas.openxmlformats.org/officeDocument/2006/relationships/slide"/><Relationship Id="rId19" Target="slides/slide11.xml" Type="http://schemas.openxmlformats.org/officeDocument/2006/relationships/slide"/><Relationship Id="rId2" Target="viewProps.xml" Type="http://schemas.openxmlformats.org/officeDocument/2006/relationships/viewProps"/><Relationship Id="rId20" Target="notesSlides/notesSlide1.xml" Type="http://schemas.openxmlformats.org/officeDocument/2006/relationships/notesSlide"/><Relationship Id="rId21" Target="notesSlides/notesSlide2.xml" Type="http://schemas.openxmlformats.org/officeDocument/2006/relationships/notesSlide"/><Relationship Id="rId22" Target="notesSlides/notesSlide3.xml" Type="http://schemas.openxmlformats.org/officeDocument/2006/relationships/notesSlide"/><Relationship Id="rId23" Target="notesSlides/notesSlide4.xml" Type="http://schemas.openxmlformats.org/officeDocument/2006/relationships/notesSlide"/><Relationship Id="rId24" Target="notesSlides/notesSlide5.xml" Type="http://schemas.openxmlformats.org/officeDocument/2006/relationships/notesSlide"/><Relationship Id="rId25" Target="notesSlides/notesSlide6.xml" Type="http://schemas.openxmlformats.org/officeDocument/2006/relationships/notesSlide"/><Relationship Id="rId26" Target="notesSlides/notesSlide7.xml" Type="http://schemas.openxmlformats.org/officeDocument/2006/relationships/notesSlide"/><Relationship Id="rId27" Target="notesSlides/notesSlide8.xml" Type="http://schemas.openxmlformats.org/officeDocument/2006/relationships/notesSlide"/><Relationship Id="rId28" Target="notesSlides/notesSlide9.xml" Type="http://schemas.openxmlformats.org/officeDocument/2006/relationships/notesSlide"/><Relationship Id="rId29" Target="notesSlides/notesSlide10.xml" Type="http://schemas.openxmlformats.org/officeDocument/2006/relationships/notesSlide"/><Relationship Id="rId3" Target="presProps.xml" Type="http://schemas.openxmlformats.org/officeDocument/2006/relationships/presProps"/><Relationship Id="rId30" Target="notesSlides/notesSlide11.xml" Type="http://schemas.openxmlformats.org/officeDocument/2006/relationships/notesSlide"/><Relationship Id="rId4" Target="slideMasters/slideMaster1.xml" Type="http://schemas.openxmlformats.org/officeDocument/2006/relationships/slideMaster"/><Relationship Id="rId6" Target="notesMasters/notesMaster1.xml" Type="http://schemas.openxmlformats.org/officeDocument/2006/relationships/notesMaster"/><Relationship Id="rId7" Target="theme/theme2.xml" Type="http://schemas.openxmlformats.org/officeDocument/2006/relationships/theme"/><Relationship Id="rId8" Target="slideMasters/slideMaster2.xml" Type="http://schemas.openxmlformats.org/officeDocument/2006/relationships/slideMaster"/><Relationship Id="rId9" Target="slides/slide1.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尊敬的各位评委老师，下午好。我是计算机学院软件工程专业的朱屹，我的毕业论文题目是《基于Gin与Nuxt.js的跨境电商独立站的设计与实现》。我的指导老师是罗予东老师。接下来，我将从选题原因、论文框架与重点、总结与展望三个方面，对我的毕业设计进行详细汇报。</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本次答辩将围绕四个部分展开。首先，我会介绍本课题的选题原因，包括研究背景和研究意义。其次，将详细阐述论文的核心框架与重点内容，涵盖研究内容、思路、方法及最终成果。接着，对整个研究工作进行总结并对未来发展方向进行展望。最后是致谢环节。</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首先是研究背景。随着电商行业的发展，传统的平台模式逐渐显现出流量成本高、数据不自主等弊端。因此，能够建立品牌护城河、掌握用户数据的独立站模式，尤其是在跨境电商领域，正成为新的趋势。技术层面，前后端分离架构因其灵活性和高效性，已成为现代Web应用开发的主流选择。本课题正是基于这一背景，旨在设计一个基于主流技术的跨境电商独立站。</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本课题的研究意义主要体现在两个方面。在工程实践上，它提供了一个将理论知识应用于实际项目的全流程机会，让我深入理解了前后端分离架构下的企业级开发模式。在业务完整性上，系统实现了从商品管理到支付完成的核心业务闭环，具备了真实的商业应用价值。这不仅是一次技术实践，更是一次完整的产品构建过程。</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接下来是论文的核心部分。我的研究内容主要分为五个方面：首先是系统的总体设计，明确了三个子系统的划分；其次是后端服务的设计与实现，这是整个系统的核心；然后是管理后台和前台商城两个前端应用的开发；最后是进行系统联调和功能验证，确保整个系统能够正常运行。</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在研究思路上，我采用了业界主流的前后端分离架构。后端采用清晰的三层架构，确保了代码的可维护性和可扩展性。在认证方面，针对不同用户角色设计了不同的认证方案：管理员使用Session，前台用户使用JWT，并特别设计了设备指纹方案以支持游客购物，保证了系统的安全性和用户体验。</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为了实现上述设计，我选用了一系列主流且成熟的技术栈。后端采用Go语言搭配Gin框架，数据库使用MySQL，缓存使用Redis。前端方面，管理后台基于Vue 3和Ant Design Vue构建，而前台商城则采用了服务端渲染框架Nuxt 4，以优化SEO和首屏加载速度。这些技术的组合兼顾了开发效率、系统性能和用户体验。</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通过上述研究，我成功实现了系统的核心功能。管理后台提供了从商品、订单到系统设置的全方位管理能力。前台商城则实现了从浏览商品到完成支付的完整购物流程。这两个端协同工作，构成了一个功能完整、可独立运行的电商系统。</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这里展示了系统的一些核心设计图。左上角是系统总体架构图，清晰地展示了三个子系统的关系。右上角是顶层数据流图，描述了外部用户与系统的交互。下方是前台用户购物的业务流程图，直观地呈现了用户的核心操作路径。这些图是我设计思路的集中体现。</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最后，对我的工作进行总结与展望。本次毕业设计，我成功构建了一个功能完整的跨境电商独立站系统，完成了一次全面的软件工程实践。当然，系统仍有可改进之处，例如在性能优化、功能扩展和国际化方面还有很大的提升空间。展望未来，这个系统不仅可以作为一个实践案例，也为后续的微服务化改造打下了良好的基础。</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我的汇报到此结束。再次感谢各位评委老师的耐心聆听与悉心指导，恳请各位老师批评指正。谢谢大家！</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2.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幻灯片" type="title">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idx="1" type="subTitle"/>
          </p:nvPr>
        </p:nvSpPr>
        <p:spPr>
          <a:xfrm>
            <a:off x="1143000" y="2701528"/>
            <a:ext cx="6858000" cy="1241821"/>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内容" type="obj">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0" name="Shape 5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节标题" type="secHead">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idx="1" type="body"/>
          </p:nvPr>
        </p:nvSpPr>
        <p:spPr>
          <a:xfrm>
            <a:off x="623888" y="3442097"/>
            <a:ext cx="7886700" cy="112514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888888"/>
              </a:buClr>
              <a:buSzPts val="1800"/>
              <a:buNone/>
              <a:defRPr sz="1800">
                <a:solidFill>
                  <a:srgbClr val="888888"/>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两栏内容" type="twoObj">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idx="1" type="body"/>
          </p:nvPr>
        </p:nvSpPr>
        <p:spPr>
          <a:xfrm>
            <a:off x="6286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2" name="Shape 11"/>
          <p:cNvSpPr txBox="1"/>
          <p:nvPr>
            <p:ph idx="2" type="body"/>
          </p:nvPr>
        </p:nvSpPr>
        <p:spPr>
          <a:xfrm>
            <a:off x="46291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3" name="Shape 1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比较" type="twoTxTwoObj">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idx="1" type="body"/>
          </p:nvPr>
        </p:nvSpPr>
        <p:spPr>
          <a:xfrm>
            <a:off x="629841" y="1260872"/>
            <a:ext cx="3868340"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39" name="Shape 37"/>
          <p:cNvSpPr txBox="1"/>
          <p:nvPr>
            <p:ph idx="2" type="body"/>
          </p:nvPr>
        </p:nvSpPr>
        <p:spPr>
          <a:xfrm>
            <a:off x="629841" y="1878806"/>
            <a:ext cx="3868340"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0" name="Shape 38"/>
          <p:cNvSpPr txBox="1"/>
          <p:nvPr>
            <p:ph idx="3" type="body"/>
          </p:nvPr>
        </p:nvSpPr>
        <p:spPr>
          <a:xfrm>
            <a:off x="4629150" y="1260872"/>
            <a:ext cx="3887391"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41" name="Shape 39"/>
          <p:cNvSpPr txBox="1"/>
          <p:nvPr>
            <p:ph idx="4" type="body"/>
          </p:nvPr>
        </p:nvSpPr>
        <p:spPr>
          <a:xfrm>
            <a:off x="4629150" y="1878806"/>
            <a:ext cx="3887391"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2" name="Shape 40"/>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仅标题" type="titleOnly">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空白" type="blank">
  <p:cSld name="BLANK">
    <p:spTree>
      <p:nvGrpSpPr>
        <p:cNvPr id="50" name="Shape 50"/>
        <p:cNvGrpSpPr/>
        <p:nvPr/>
      </p:nvGrpSpPr>
      <p:grpSpPr>
        <a:xfrm>
          <a:off x="0" y="0"/>
          <a:ext cx="0" cy="0"/>
          <a:chOff x="0" y="0"/>
          <a:chExt cx="0" cy="0"/>
        </a:xfrm>
      </p:grpSpPr>
      <p:sp>
        <p:nvSpPr>
          <p:cNvPr id="51" name="Shape 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内容与标题" type="objTx">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idx="1" type="body"/>
          </p:nvPr>
        </p:nvSpPr>
        <p:spPr>
          <a:xfrm>
            <a:off x="3887391" y="740569"/>
            <a:ext cx="4629150" cy="3655219"/>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57" name="Shape 45"/>
          <p:cNvSpPr txBox="1"/>
          <p:nvPr>
            <p:ph idx="2"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58" name="Shape 4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图片与标题" type="picTx">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idx="2" type="pic"/>
          </p:nvPr>
        </p:nvSpPr>
        <p:spPr>
          <a:xfrm>
            <a:off x="3887391" y="740569"/>
            <a:ext cx="4629150" cy="3655219"/>
          </a:xfrm>
          <a:prstGeom prst="rect">
            <a:avLst/>
          </a:prstGeom>
          <a:noFill/>
          <a:ln>
            <a:noFill/>
          </a:ln>
        </p:spPr>
      </p:sp>
      <p:sp>
        <p:nvSpPr>
          <p:cNvPr id="64" name="Shape 26"/>
          <p:cNvSpPr txBox="1"/>
          <p:nvPr>
            <p:ph idx="1"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65" name="Shape 2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竖排文字" type="vertTx">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idx="1" type="body"/>
          </p:nvPr>
        </p:nvSpPr>
        <p:spPr>
          <a:xfrm rot="5400000">
            <a:off x="2940248" y="-942379"/>
            <a:ext cx="3263504"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1" name="Shape 5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竖排标题与文本" type="vertTitleAndTx">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idx="1" type="body"/>
          </p:nvPr>
        </p:nvSpPr>
        <p:spPr>
          <a:xfrm rot="5400000">
            <a:off x="1349573" y="-447080"/>
            <a:ext cx="4358879" cy="5800725"/>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7" name="Shape 1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_rels/slideMaster2.xml.rels><?xml version="1.0" encoding="UTF-8" standalone="yes"?><Relationships xmlns="http://schemas.openxmlformats.org/package/2006/relationships"><Relationship Id="rId1" Target="../theme/theme3.xml" Type="http://schemas.openxmlformats.org/officeDocument/2006/relationships/theme"/><Relationship Id="rId2" Target="../slideLayouts/slideLayout12.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3300"/>
              <a:buFont typeface="Arial"/>
              <a:buNone/>
              <a:defRPr b="0" i="0" sz="3300" u="none" cap="none" strike="noStrik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8" name="Shape 3"/>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9" name="Shape 4"/>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10" name="Shape 5"/>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888888"/>
                </a:solidFill>
                <a:latin typeface="Arial"/>
                <a:ea typeface="Arial"/>
                <a:cs typeface="Arial"/>
                <a:sym typeface="Arial"/>
              </a:defRPr>
            </a:lvl1pPr>
            <a:lvl2pPr indent="0" lvl="1" marL="0" marR="0" rtl="0" algn="r">
              <a:spcBef>
                <a:spcPts val="0"/>
              </a:spcBef>
              <a:buNone/>
              <a:defRPr b="0" i="0" sz="900" u="none" cap="none" strike="noStrike">
                <a:solidFill>
                  <a:srgbClr val="888888"/>
                </a:solidFill>
                <a:latin typeface="Arial"/>
                <a:ea typeface="Arial"/>
                <a:cs typeface="Arial"/>
                <a:sym typeface="Arial"/>
              </a:defRPr>
            </a:lvl2pPr>
            <a:lvl3pPr indent="0" lvl="2" marL="0" marR="0" rtl="0" algn="r">
              <a:spcBef>
                <a:spcPts val="0"/>
              </a:spcBef>
              <a:buNone/>
              <a:defRPr b="0" i="0" sz="900" u="none" cap="none" strike="noStrike">
                <a:solidFill>
                  <a:srgbClr val="888888"/>
                </a:solidFill>
                <a:latin typeface="Arial"/>
                <a:ea typeface="Arial"/>
                <a:cs typeface="Arial"/>
                <a:sym typeface="Arial"/>
              </a:defRPr>
            </a:lvl3pPr>
            <a:lvl4pPr indent="0" lvl="3" marL="0" marR="0" rtl="0" algn="r">
              <a:spcBef>
                <a:spcPts val="0"/>
              </a:spcBef>
              <a:buNone/>
              <a:defRPr b="0" i="0" sz="900" u="none" cap="none" strike="noStrike">
                <a:solidFill>
                  <a:srgbClr val="888888"/>
                </a:solidFill>
                <a:latin typeface="Arial"/>
                <a:ea typeface="Arial"/>
                <a:cs typeface="Arial"/>
                <a:sym typeface="Arial"/>
              </a:defRPr>
            </a:lvl4pPr>
            <a:lvl5pPr indent="0" lvl="4" marL="0" marR="0" rtl="0" algn="r">
              <a:spcBef>
                <a:spcPts val="0"/>
              </a:spcBef>
              <a:buNone/>
              <a:defRPr b="0" i="0" sz="900" u="none" cap="none" strike="noStrike">
                <a:solidFill>
                  <a:srgbClr val="888888"/>
                </a:solidFill>
                <a:latin typeface="Arial"/>
                <a:ea typeface="Arial"/>
                <a:cs typeface="Arial"/>
                <a:sym typeface="Arial"/>
              </a:defRPr>
            </a:lvl5pPr>
            <a:lvl6pPr indent="0" lvl="5" marL="0" marR="0" rtl="0" algn="r">
              <a:spcBef>
                <a:spcPts val="0"/>
              </a:spcBef>
              <a:buNone/>
              <a:defRPr b="0" i="0" sz="900" u="none" cap="none" strike="noStrike">
                <a:solidFill>
                  <a:srgbClr val="888888"/>
                </a:solidFill>
                <a:latin typeface="Arial"/>
                <a:ea typeface="Arial"/>
                <a:cs typeface="Arial"/>
                <a:sym typeface="Arial"/>
              </a:defRPr>
            </a:lvl6pPr>
            <a:lvl7pPr indent="0" lvl="6" marL="0" marR="0" rtl="0" algn="r">
              <a:spcBef>
                <a:spcPts val="0"/>
              </a:spcBef>
              <a:buNone/>
              <a:defRPr b="0" i="0" sz="900" u="none" cap="none" strike="noStrike">
                <a:solidFill>
                  <a:srgbClr val="888888"/>
                </a:solidFill>
                <a:latin typeface="Arial"/>
                <a:ea typeface="Arial"/>
                <a:cs typeface="Arial"/>
                <a:sym typeface="Arial"/>
              </a:defRPr>
            </a:lvl7pPr>
            <a:lvl8pPr indent="0" lvl="7" marL="0" marR="0" rtl="0" algn="r">
              <a:spcBef>
                <a:spcPts val="0"/>
              </a:spcBef>
              <a:buNone/>
              <a:defRPr b="0" i="0" sz="900" u="none" cap="none" strike="noStrike">
                <a:solidFill>
                  <a:srgbClr val="888888"/>
                </a:solidFill>
                <a:latin typeface="Arial"/>
                <a:ea typeface="Arial"/>
                <a:cs typeface="Arial"/>
                <a:sym typeface="Arial"/>
              </a:defRPr>
            </a:lvl8pPr>
            <a:lvl9pPr indent="0" lvl="8" marL="0" marR="0" rtl="0" algn="r">
              <a:spcBef>
                <a:spcPts val="0"/>
              </a:spcBef>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zh-C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默认主题">
    <p:bg>
      <p:bgPr>
        <a:solidFill>
          <a:srgbClr val="FFFFFF">
            <a:alpha val="100000"/>
          </a:srgbClr>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5748369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jpeg" Type="http://schemas.openxmlformats.org/officeDocument/2006/relationships/image"/><Relationship Id="rId3" Target="../notesSlides/notesSlide1.xml" Type="http://schemas.openxmlformats.org/officeDocument/2006/relationships/notesSlide"/></Relationships>
</file>

<file path=ppt/slides/_rels/slide2.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notesSlides/notesSlide2.xml" Type="http://schemas.openxmlformats.org/officeDocument/2006/relationships/notesSlide"/></Relationships>
</file>

<file path=ppt/slides/_rels/slide3.xml.rels><?xml version="1.0" encoding="UTF-8" standalone="yes"?><Relationships xmlns="http://schemas.openxmlformats.org/package/2006/relationships"><Relationship Id="rId1" Target="../slideLayouts/slideLayout12.xml" Type="http://schemas.openxmlformats.org/officeDocument/2006/relationships/slideLayout"/><Relationship Id="rId10" Target="../notesSlides/notesSlide3.xml" Type="http://schemas.openxmlformats.org/officeDocument/2006/relationships/notesSlide"/><Relationship Id="rId2" Target="../media/image2.jpeg" Type="http://schemas.openxmlformats.org/officeDocument/2006/relationships/image"/><Relationship Id="rId3" Target="../media/image3.jpe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 Id="rId8" Target="../media/image8.png" Type="http://schemas.openxmlformats.org/officeDocument/2006/relationships/image"/><Relationship Id="rId9" Target="../media/image9.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media/image10.jpe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notesSlides/notesSlide4.xml" Type="http://schemas.openxmlformats.org/officeDocument/2006/relationships/notesSlide"/></Relationships>
</file>

<file path=ppt/slides/_rels/slide5.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media/image13.jpeg" Type="http://schemas.openxmlformats.org/officeDocument/2006/relationships/image"/><Relationship Id="rId4" Target="../notesSlides/notesSlide5.xml" Type="http://schemas.openxmlformats.org/officeDocument/2006/relationships/notesSlide"/></Relationships>
</file>

<file path=ppt/slides/_rels/slide6.xml.rels><?xml version="1.0" encoding="UTF-8" standalone="yes"?><Relationships xmlns="http://schemas.openxmlformats.org/package/2006/relationships"><Relationship Id="rId1" Target="../slideLayouts/slideLayout12.xml" Type="http://schemas.openxmlformats.org/officeDocument/2006/relationships/slideLayout"/><Relationship Id="rId10" Target="../notesSlides/notesSlide6.xml" Type="http://schemas.openxmlformats.org/officeDocument/2006/relationships/notesSlide"/><Relationship Id="rId2" Target="../media/image2.jpeg" Type="http://schemas.openxmlformats.org/officeDocument/2006/relationships/image"/><Relationship Id="rId3" Target="../media/image10.jpeg" Type="http://schemas.openxmlformats.org/officeDocument/2006/relationships/image"/><Relationship Id="rId4" Target="../media/image14.png" Type="http://schemas.openxmlformats.org/officeDocument/2006/relationships/image"/><Relationship Id="rId5" Target="../media/image15.svg" Type="http://schemas.openxmlformats.org/officeDocument/2006/relationships/image"/><Relationship Id="rId6" Target="../media/image16.png" Type="http://schemas.openxmlformats.org/officeDocument/2006/relationships/image"/><Relationship Id="rId7" Target="../media/image17.svg" Type="http://schemas.openxmlformats.org/officeDocument/2006/relationships/image"/><Relationship Id="rId8" Target="../media/image18.png" Type="http://schemas.openxmlformats.org/officeDocument/2006/relationships/image"/><Relationship Id="rId9" Target="../media/image19.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media/image20.jpeg" Type="http://schemas.openxmlformats.org/officeDocument/2006/relationships/image"/><Relationship Id="rId4" Target="../media/image21.jpeg" Type="http://schemas.openxmlformats.org/officeDocument/2006/relationships/image"/><Relationship Id="rId5" Target="../media/image22.jpeg" Type="http://schemas.openxmlformats.org/officeDocument/2006/relationships/image"/><Relationship Id="rId6" Target="../notesSlides/notesSlide7.xml" Type="http://schemas.openxmlformats.org/officeDocument/2006/relationships/notesSlide"/></Relationships>
</file>

<file path=ppt/slides/_rels/slide8.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media/image23.jpeg" Type="http://schemas.openxmlformats.org/officeDocument/2006/relationships/image"/><Relationship Id="rId4" Target="../media/image24.jpeg" Type="http://schemas.openxmlformats.org/officeDocument/2006/relationships/image"/><Relationship Id="rId5" Target="../notesSlides/notesSlide8.xml" Type="http://schemas.openxmlformats.org/officeDocument/2006/relationships/notesSlide"/></Relationships>
</file>

<file path=ppt/slides/_rels/slide9.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media/image25.png" Type="http://schemas.openxmlformats.org/officeDocument/2006/relationships/image"/><Relationship Id="rId4" Target="../media/image26.png" Type="http://schemas.openxmlformats.org/officeDocument/2006/relationships/image"/><Relationship Id="rId5" Target="../media/image27.png" Type="http://schemas.openxmlformats.org/officeDocument/2006/relationships/image"/><Relationship Id="rId6" Target="../notesSlides/notesSlide9.xml" Type="http://schemas.openxmlformats.org/officeDocument/2006/relationships/notesSlide"/></Relationships>
</file>

<file path=ppt/slides/_rels/slide10.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media/image28.png" Type="http://schemas.openxmlformats.org/officeDocument/2006/relationships/image"/><Relationship Id="rId4" Target="../media/image29.svg" Type="http://schemas.openxmlformats.org/officeDocument/2006/relationships/image"/><Relationship Id="rId5" Target="../media/image30.png" Type="http://schemas.openxmlformats.org/officeDocument/2006/relationships/image"/><Relationship Id="rId6" Target="../media/image31.svg" Type="http://schemas.openxmlformats.org/officeDocument/2006/relationships/image"/><Relationship Id="rId7" Target="../media/image32.png" Type="http://schemas.openxmlformats.org/officeDocument/2006/relationships/image"/><Relationship Id="rId8" Target="../media/image33.svg" Type="http://schemas.openxmlformats.org/officeDocument/2006/relationships/image"/><Relationship Id="rId9" Target="../notesSlides/notesSlide10.xml" Type="http://schemas.openxmlformats.org/officeDocument/2006/relationships/notesSlide"/></Relationships>
</file>

<file path=ppt/slides/_rels/slide11.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34.jpeg" Type="http://schemas.openxmlformats.org/officeDocument/2006/relationships/image"/><Relationship Id="rId3" Target="../notesSlides/notesSlide11.xml" Type="http://schemas.openxmlformats.org/officeDocument/2006/relationships/notesSlide"/><Relationship Id="rId4" Target="../media/image35.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A2540">
              <a:alpha val="7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10160000" y="762000"/>
            <a:ext cx="1270000" cy="1270000"/>
          </a:xfrm>
          <a:prstGeom prst="roundRect">
            <a:avLst>
              <a:gd name="adj" fmla="val 8000"/>
            </a:avLst>
          </a:prstGeom>
          <a:solidFill>
            <a:srgbClr val="FFFFFF">
              <a:alpha val="15000"/>
            </a:srgbClr>
          </a:solidFill>
          <a:ln w="12700" cmpd="sng" cap="flat">
            <a:solidFill>
              <a:srgbClr val="FFFFFF">
                <a:alpha val="40000"/>
              </a:srgbClr>
            </a:solid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10160000" y="1206500"/>
            <a:ext cx="1270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400">
                <a:solidFill>
                  <a:srgbClr val="FFFFFF">
                    <a:alpha val="70196"/>
                  </a:srgbClr>
                </a:solidFill>
                <a:latin typeface="Noto Sans SC"/>
                <a:ea typeface="Noto Sans SC"/>
                <a:cs typeface="Noto Sans SC"/>
                <a:sym typeface="Noto Sans SC"/>
              </a:rPr>
              <a:t>LOGO</a:t>
            </a:r>
            <a:endParaRPr lang="en-US" sz="1100"/>
          </a:p>
        </p:txBody>
      </p:sp>
      <p:sp>
        <p:nvSpPr>
          <p:cNvPr name="AutoShape 5" id="5"/>
          <p:cNvSpPr/>
          <p:nvPr/>
        </p:nvSpPr>
        <p:spPr>
          <a:xfrm rot="0" flipH="false" flipV="false">
            <a:off x="762000" y="1270000"/>
            <a:ext cx="9144000" cy="1905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4800">
                <a:solidFill>
                  <a:srgbClr val="FFFFFF"/>
                </a:solidFill>
                <a:latin typeface="Noto Sans SC"/>
                <a:ea typeface="Noto Sans SC"/>
                <a:cs typeface="Noto Sans SC"/>
                <a:sym typeface="Noto Sans SC"/>
              </a:rPr>
              <a:t>基于Gin与Nuxt.js的</a:t>
            </a:r>
            <a:r>
              <a:rPr lang="en-US" b="true" i="false" strike="noStrike" u="none" sz="4800">
                <a:solidFill>
                  <a:srgbClr val="FFFFFF"/>
                </a:solidFill>
                <a:latin typeface="Noto Sans SC"/>
                <a:ea typeface="Noto Sans SC"/>
                <a:cs typeface="Noto Sans SC"/>
                <a:sym typeface="Noto Sans SC"/>
              </a:rPr>
              <a:t/>
            </a:r>
            <a:br>
              <a:rPr lang="en-US" b="true" i="false" strike="noStrike" u="none" sz="4800">
                <a:solidFill>
                  <a:srgbClr val="FFFFFF"/>
                </a:solidFill>
                <a:latin typeface="Noto Sans SC"/>
                <a:ea typeface="Noto Sans SC"/>
                <a:cs typeface="Noto Sans SC"/>
                <a:sym typeface="Noto Sans SC"/>
              </a:rPr>
            </a:br>
            <a:r>
              <a:rPr lang="en-US" b="true" i="false" strike="noStrike" u="none" sz="4800">
                <a:solidFill>
                  <a:srgbClr val="FFFFFF"/>
                </a:solidFill>
                <a:latin typeface="Noto Sans SC"/>
                <a:ea typeface="Noto Sans SC"/>
                <a:cs typeface="Noto Sans SC"/>
                <a:sym typeface="Noto Sans SC"/>
              </a:rPr>
              <a:t>跨境电商独立站的设计与实现</a:t>
            </a:r>
            <a:endParaRPr lang="en-US" sz="1100"/>
          </a:p>
        </p:txBody>
      </p:sp>
      <p:sp>
        <p:nvSpPr>
          <p:cNvPr name="AutoShape 6" id="6"/>
          <p:cNvSpPr/>
          <p:nvPr/>
        </p:nvSpPr>
        <p:spPr>
          <a:xfrm rot="0" flipH="false" flipV="false">
            <a:off x="762000" y="3683000"/>
            <a:ext cx="10668000" cy="2413000"/>
          </a:xfrm>
          <a:prstGeom prst="roundRect">
            <a:avLst>
              <a:gd name="adj" fmla="val 6315"/>
            </a:avLst>
          </a:prstGeom>
          <a:solidFill>
            <a:srgbClr val="0F2A4B">
              <a:alpha val="90000"/>
            </a:srgbClr>
          </a:solidFill>
          <a:ln w="12700" cmpd="sng" cap="flat">
            <a:solidFill>
              <a:srgbClr val="60A5FA">
                <a:alpha val="6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7" id="7"/>
          <p:cNvSpPr/>
          <p:nvPr/>
        </p:nvSpPr>
        <p:spPr>
          <a:xfrm rot="0" flipH="false" flipV="false">
            <a:off x="1143000" y="4191000"/>
            <a:ext cx="4572000" cy="1397000"/>
          </a:xfrm>
          <a:prstGeom prst="rect">
            <a:avLst/>
          </a:prstGeom>
          <a:noFill/>
          <a:ln w="12700" cmpd="sng" cap="flat">
            <a:noFill/>
            <a:prstDash val="solid"/>
            <a:round/>
          </a:ln>
        </p:spPr>
        <p:txBody>
          <a:bodyPr anchor="ctr" rtlCol="false" anchorCtr="false" vert="horz" wrap="square" lIns="0" rIns="0" tIns="0" bIns="0"/>
          <a:lstStyle/>
          <a:p>
            <a:pPr algn="l" indent="0">
              <a:lnSpc>
                <a:spcPct val="133333"/>
              </a:lnSpc>
              <a:defRPr/>
            </a:pPr>
            <a:r>
              <a:rPr lang="en-US" b="true" i="false" strike="noStrike" u="none" sz="2000">
                <a:solidFill>
                  <a:srgbClr val="93C5FD"/>
                </a:solidFill>
                <a:latin typeface="Noto Sans SC"/>
                <a:ea typeface="Noto Sans SC"/>
                <a:cs typeface="Noto Sans SC"/>
                <a:sym typeface="Noto Sans SC"/>
              </a:rPr>
              <a:t>答辩人：</a:t>
            </a:r>
            <a:r>
              <a:rPr lang="en-US" b="false" i="false" strike="noStrike" u="none" sz="2000">
                <a:solidFill>
                  <a:srgbClr val="FFFFFF"/>
                </a:solidFill>
                <a:latin typeface="Noto Sans SC"/>
                <a:ea typeface="Noto Sans SC"/>
                <a:cs typeface="Noto Sans SC"/>
                <a:sym typeface="Noto Sans SC"/>
              </a:rPr>
              <a:t>朱屹</a:t>
            </a:r>
            <a:r>
              <a:rPr lang="en-US" b="false" i="false" strike="noStrike" u="none" sz="2000">
                <a:solidFill>
                  <a:srgbClr val="1F2329"/>
                </a:solidFill>
                <a:latin typeface="Noto Sans SC"/>
                <a:ea typeface="Noto Sans SC"/>
                <a:cs typeface="Noto Sans SC"/>
                <a:sym typeface="Noto Sans SC"/>
              </a:rPr>
              <a:t/>
            </a:r>
            <a:endParaRPr lang="en-US" sz="1100"/>
          </a:p>
          <a:p>
            <a:pPr algn="l" indent="0">
              <a:lnSpc>
                <a:spcPct val="133333"/>
              </a:lnSpc>
            </a:pPr>
            <a:r>
              <a:rPr lang="en-US" b="true" i="false" strike="noStrike" u="none" sz="2000">
                <a:solidFill>
                  <a:srgbClr val="93C5FD"/>
                </a:solidFill>
                <a:latin typeface="Noto Sans SC"/>
                <a:ea typeface="Noto Sans SC"/>
                <a:cs typeface="Noto Sans SC"/>
                <a:sym typeface="Noto Sans SC"/>
              </a:rPr>
              <a:t>指导老师：</a:t>
            </a:r>
            <a:r>
              <a:rPr lang="en-US" b="false" i="false" strike="noStrike" u="none" sz="2000">
                <a:solidFill>
                  <a:srgbClr val="FFFFFF"/>
                </a:solidFill>
                <a:latin typeface="Noto Sans SC"/>
                <a:ea typeface="Noto Sans SC"/>
                <a:cs typeface="Noto Sans SC"/>
                <a:sym typeface="Noto Sans SC"/>
              </a:rPr>
              <a:t>罗予东 老师</a:t>
            </a:r>
          </a:p>
        </p:txBody>
      </p:sp>
      <p:sp>
        <p:nvSpPr>
          <p:cNvPr name="AutoShape 8" id="8"/>
          <p:cNvSpPr/>
          <p:nvPr/>
        </p:nvSpPr>
        <p:spPr>
          <a:xfrm rot="0" flipH="false" flipV="false">
            <a:off x="5969000" y="4191000"/>
            <a:ext cx="25400" cy="1397000"/>
          </a:xfrm>
          <a:prstGeom prst="roundRect">
            <a:avLst>
              <a:gd name="adj" fmla="val 0"/>
            </a:avLst>
          </a:prstGeom>
          <a:solidFill>
            <a:srgbClr val="FFFFFF">
              <a:alpha val="2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6477000" y="4191000"/>
            <a:ext cx="4572000" cy="1524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false" i="false" strike="noStrike" u="none" sz="1600">
                <a:solidFill>
                  <a:srgbClr val="93C5FD"/>
                </a:solidFill>
                <a:latin typeface="Noto Sans SC"/>
                <a:ea typeface="Noto Sans SC"/>
                <a:cs typeface="Noto Sans SC"/>
                <a:sym typeface="Noto Sans SC"/>
              </a:rPr>
              <a:t>学校 / 学院：</a:t>
            </a:r>
            <a:r>
              <a:rPr lang="en-US" b="false" i="false" strike="noStrike" u="none" sz="1600">
                <a:solidFill>
                  <a:srgbClr val="E5E7EB"/>
                </a:solidFill>
                <a:latin typeface="Noto Sans SC"/>
                <a:ea typeface="Noto Sans SC"/>
                <a:cs typeface="Noto Sans SC"/>
                <a:sym typeface="Noto Sans SC"/>
              </a:rPr>
              <a:t>嘉应学院 · 计算机学院</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16666"/>
              </a:lnSpc>
            </a:pPr>
            <a:r>
              <a:rPr lang="en-US" b="false" i="false" strike="noStrike" u="none" sz="1600">
                <a:solidFill>
                  <a:srgbClr val="93C5FD"/>
                </a:solidFill>
                <a:latin typeface="Noto Sans SC"/>
                <a:ea typeface="Noto Sans SC"/>
                <a:cs typeface="Noto Sans SC"/>
                <a:sym typeface="Noto Sans SC"/>
              </a:rPr>
              <a:t>专 业：</a:t>
            </a:r>
            <a:r>
              <a:rPr lang="en-US" b="false" i="false" strike="noStrike" u="none" sz="1600">
                <a:solidFill>
                  <a:srgbClr val="E5E7EB"/>
                </a:solidFill>
                <a:latin typeface="Noto Sans SC"/>
                <a:ea typeface="Noto Sans SC"/>
                <a:cs typeface="Noto Sans SC"/>
                <a:sym typeface="Noto Sans SC"/>
              </a:rPr>
              <a:t>软件工程</a:t>
            </a:r>
            <a:r>
              <a:rPr lang="en-US" b="false" i="false" strike="noStrike" u="none" sz="1600">
                <a:solidFill>
                  <a:srgbClr val="1F2329"/>
                </a:solidFill>
                <a:latin typeface="Noto Sans SC"/>
                <a:ea typeface="Noto Sans SC"/>
                <a:cs typeface="Noto Sans SC"/>
                <a:sym typeface="Noto Sans SC"/>
              </a:rPr>
              <a:t/>
            </a:r>
          </a:p>
          <a:p>
            <a:pPr algn="l" indent="0">
              <a:lnSpc>
                <a:spcPct val="116666"/>
              </a:lnSpc>
            </a:pPr>
            <a:r>
              <a:rPr lang="en-US" b="false" i="false" strike="noStrike" u="none" sz="1400">
                <a:solidFill>
                  <a:srgbClr val="9CA3AF"/>
                </a:solidFill>
                <a:latin typeface="Noto Sans SC"/>
                <a:ea typeface="Noto Sans SC"/>
                <a:cs typeface="Noto Sans SC"/>
                <a:sym typeface="Noto Sans SC"/>
              </a:rPr>
              <a:t>2026届本科毕业论文答辩</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762000" y="508000"/>
            <a:ext cx="2286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0A2540"/>
                </a:solidFill>
                <a:latin typeface="Noto Sans SC"/>
                <a:ea typeface="Noto Sans SC"/>
                <a:cs typeface="Noto Sans SC"/>
                <a:sym typeface="Noto Sans SC"/>
              </a:rPr>
              <a:t>目 录</a:t>
            </a:r>
            <a:endParaRPr lang="en-US" sz="1100"/>
          </a:p>
        </p:txBody>
      </p:sp>
      <p:sp>
        <p:nvSpPr>
          <p:cNvPr name="AutoShape 3" id="3"/>
          <p:cNvSpPr/>
          <p:nvPr/>
        </p:nvSpPr>
        <p:spPr>
          <a:xfrm rot="0" flipH="false" flipV="false">
            <a:off x="2540000" y="660400"/>
            <a:ext cx="254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2000">
                <a:solidFill>
                  <a:srgbClr val="64748B"/>
                </a:solidFill>
                <a:latin typeface="Noto Sans SC"/>
                <a:ea typeface="Noto Sans SC"/>
                <a:cs typeface="Noto Sans SC"/>
                <a:sym typeface="Noto Sans SC"/>
              </a:rPr>
              <a:t>CONTENTS</a:t>
            </a:r>
            <a:endParaRPr lang="en-US" sz="1100"/>
          </a:p>
        </p:txBody>
      </p:sp>
      <p:sp>
        <p:nvSpPr>
          <p:cNvPr name="AutoShape 4" id="4"/>
          <p:cNvSpPr/>
          <p:nvPr/>
        </p:nvSpPr>
        <p:spPr>
          <a:xfrm rot="0" flipH="false" flipV="false">
            <a:off x="762000" y="1778000"/>
            <a:ext cx="5207000" cy="2159000"/>
          </a:xfrm>
          <a:prstGeom prst="roundRect">
            <a:avLst>
              <a:gd name="adj" fmla="val 7058"/>
            </a:avLst>
          </a:prstGeom>
          <a:solidFill>
            <a:srgbClr val="FFFFFF">
              <a:alpha val="100000"/>
            </a:srgbClr>
          </a:solidFill>
          <a:ln w="12700" cmpd="sng" cap="flat">
            <a:solidFill>
              <a:srgbClr val="E2E8F0">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1778000"/>
            <a:ext cx="101600" cy="2159000"/>
          </a:xfrm>
          <a:prstGeom prst="roundRect">
            <a:avLst>
              <a:gd name="adj" fmla="val 0"/>
            </a:avLst>
          </a:prstGeom>
          <a:solidFill>
            <a:srgbClr val="0A2540">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1143000" y="2095500"/>
            <a:ext cx="1016000" cy="1016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4800">
                <a:solidFill>
                  <a:srgbClr val="0A2540"/>
                </a:solidFill>
                <a:latin typeface="Noto Sans SC"/>
                <a:ea typeface="Noto Sans SC"/>
                <a:cs typeface="Noto Sans SC"/>
                <a:sym typeface="Noto Sans SC"/>
              </a:rPr>
              <a:t>01</a:t>
            </a:r>
            <a:endParaRPr lang="en-US" sz="1100"/>
          </a:p>
        </p:txBody>
      </p:sp>
      <p:sp>
        <p:nvSpPr>
          <p:cNvPr name="AutoShape 7" id="7"/>
          <p:cNvSpPr/>
          <p:nvPr/>
        </p:nvSpPr>
        <p:spPr>
          <a:xfrm rot="0" flipH="false" flipV="false">
            <a:off x="2413000" y="2159000"/>
            <a:ext cx="3302000" cy="1397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true" i="false" strike="noStrike" u="none" sz="2200">
                <a:solidFill>
                  <a:srgbClr val="0A2540"/>
                </a:solidFill>
                <a:latin typeface="Noto Sans SC"/>
                <a:ea typeface="Noto Sans SC"/>
                <a:cs typeface="Noto Sans SC"/>
                <a:sym typeface="Noto Sans SC"/>
              </a:rPr>
              <a:t>选题原因</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33333"/>
              </a:lnSpc>
              <a:spcBef>
                <a:spcPts val="1500"/>
              </a:spcBef>
            </a:pPr>
            <a:r>
              <a:rPr lang="en-US" b="false" i="false" strike="noStrike" u="none" sz="1400">
                <a:solidFill>
                  <a:srgbClr val="475569"/>
                </a:solidFill>
                <a:latin typeface="Noto Sans SC"/>
                <a:ea typeface="Noto Sans SC"/>
                <a:cs typeface="Noto Sans SC"/>
                <a:sym typeface="Noto Sans SC"/>
              </a:rPr>
              <a:t>研究背景 · 研究意义</a:t>
            </a:r>
          </a:p>
        </p:txBody>
      </p:sp>
      <p:sp>
        <p:nvSpPr>
          <p:cNvPr name="AutoShape 8" id="8"/>
          <p:cNvSpPr/>
          <p:nvPr/>
        </p:nvSpPr>
        <p:spPr>
          <a:xfrm rot="0" flipH="false" flipV="false">
            <a:off x="6223000" y="1778000"/>
            <a:ext cx="5207000" cy="2159000"/>
          </a:xfrm>
          <a:prstGeom prst="roundRect">
            <a:avLst>
              <a:gd name="adj" fmla="val 7058"/>
            </a:avLst>
          </a:prstGeom>
          <a:solidFill>
            <a:srgbClr val="FFFFFF">
              <a:alpha val="100000"/>
            </a:srgbClr>
          </a:solidFill>
          <a:ln w="12700" cmpd="sng" cap="flat">
            <a:solidFill>
              <a:srgbClr val="E2E8F0">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9" id="9"/>
          <p:cNvSpPr/>
          <p:nvPr/>
        </p:nvSpPr>
        <p:spPr>
          <a:xfrm rot="0" flipH="false" flipV="false">
            <a:off x="6223000" y="1778000"/>
            <a:ext cx="101600" cy="2159000"/>
          </a:xfrm>
          <a:prstGeom prst="roundRect">
            <a:avLst>
              <a:gd name="adj" fmla="val 0"/>
            </a:avLst>
          </a:prstGeom>
          <a:solidFill>
            <a:srgbClr val="0A2540">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6604000" y="2095500"/>
            <a:ext cx="1016000" cy="1016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4800">
                <a:solidFill>
                  <a:srgbClr val="0A2540"/>
                </a:solidFill>
                <a:latin typeface="Noto Sans SC"/>
                <a:ea typeface="Noto Sans SC"/>
                <a:cs typeface="Noto Sans SC"/>
                <a:sym typeface="Noto Sans SC"/>
              </a:rPr>
              <a:t>02</a:t>
            </a:r>
            <a:endParaRPr lang="en-US" sz="1100"/>
          </a:p>
        </p:txBody>
      </p:sp>
      <p:sp>
        <p:nvSpPr>
          <p:cNvPr name="AutoShape 11" id="11"/>
          <p:cNvSpPr/>
          <p:nvPr/>
        </p:nvSpPr>
        <p:spPr>
          <a:xfrm rot="0" flipH="false" flipV="false">
            <a:off x="7874000" y="2159000"/>
            <a:ext cx="3302000" cy="1397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true" i="false" strike="noStrike" u="none" sz="2200">
                <a:solidFill>
                  <a:srgbClr val="0A2540"/>
                </a:solidFill>
                <a:latin typeface="Noto Sans SC"/>
                <a:ea typeface="Noto Sans SC"/>
                <a:cs typeface="Noto Sans SC"/>
                <a:sym typeface="Noto Sans SC"/>
              </a:rPr>
              <a:t>论文框架与重点</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33333"/>
              </a:lnSpc>
              <a:spcBef>
                <a:spcPts val="1500"/>
              </a:spcBef>
            </a:pPr>
            <a:r>
              <a:rPr lang="en-US" b="false" i="false" strike="noStrike" u="none" sz="1400">
                <a:solidFill>
                  <a:srgbClr val="475569"/>
                </a:solidFill>
                <a:latin typeface="Noto Sans SC"/>
                <a:ea typeface="Noto Sans SC"/>
                <a:cs typeface="Noto Sans SC"/>
                <a:sym typeface="Noto Sans SC"/>
              </a:rPr>
              <a:t>研究内容 · 研究思路 · 研究方法 · 研究成果</a:t>
            </a:r>
          </a:p>
        </p:txBody>
      </p:sp>
      <p:sp>
        <p:nvSpPr>
          <p:cNvPr name="AutoShape 12" id="12"/>
          <p:cNvSpPr/>
          <p:nvPr/>
        </p:nvSpPr>
        <p:spPr>
          <a:xfrm rot="0" flipH="false" flipV="false">
            <a:off x="762000" y="4191000"/>
            <a:ext cx="5207000" cy="2159000"/>
          </a:xfrm>
          <a:prstGeom prst="roundRect">
            <a:avLst>
              <a:gd name="adj" fmla="val 7058"/>
            </a:avLst>
          </a:prstGeom>
          <a:solidFill>
            <a:srgbClr val="FFFFFF">
              <a:alpha val="100000"/>
            </a:srgbClr>
          </a:solidFill>
          <a:ln w="12700" cmpd="sng" cap="flat">
            <a:solidFill>
              <a:srgbClr val="E2E8F0">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13" id="13"/>
          <p:cNvSpPr/>
          <p:nvPr/>
        </p:nvSpPr>
        <p:spPr>
          <a:xfrm rot="0" flipH="false" flipV="false">
            <a:off x="762000" y="4191000"/>
            <a:ext cx="101600" cy="2159000"/>
          </a:xfrm>
          <a:prstGeom prst="roundRect">
            <a:avLst>
              <a:gd name="adj" fmla="val 0"/>
            </a:avLst>
          </a:prstGeom>
          <a:solidFill>
            <a:srgbClr val="0A2540">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1143000" y="4508500"/>
            <a:ext cx="1016000" cy="1016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4800">
                <a:solidFill>
                  <a:srgbClr val="0A2540"/>
                </a:solidFill>
                <a:latin typeface="Noto Sans SC"/>
                <a:ea typeface="Noto Sans SC"/>
                <a:cs typeface="Noto Sans SC"/>
                <a:sym typeface="Noto Sans SC"/>
              </a:rPr>
              <a:t>03</a:t>
            </a:r>
            <a:endParaRPr lang="en-US" sz="1100"/>
          </a:p>
        </p:txBody>
      </p:sp>
      <p:sp>
        <p:nvSpPr>
          <p:cNvPr name="AutoShape 15" id="15"/>
          <p:cNvSpPr/>
          <p:nvPr/>
        </p:nvSpPr>
        <p:spPr>
          <a:xfrm rot="0" flipH="false" flipV="false">
            <a:off x="2413000" y="4572000"/>
            <a:ext cx="3302000" cy="1397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true" i="false" strike="noStrike" u="none" sz="2200">
                <a:solidFill>
                  <a:srgbClr val="0A2540"/>
                </a:solidFill>
                <a:latin typeface="Noto Sans SC"/>
                <a:ea typeface="Noto Sans SC"/>
                <a:cs typeface="Noto Sans SC"/>
                <a:sym typeface="Noto Sans SC"/>
              </a:rPr>
              <a:t>总结与展望</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33333"/>
              </a:lnSpc>
              <a:spcBef>
                <a:spcPts val="1500"/>
              </a:spcBef>
            </a:pPr>
            <a:r>
              <a:rPr lang="en-US" b="false" i="false" strike="noStrike" u="none" sz="1400">
                <a:solidFill>
                  <a:srgbClr val="475569"/>
                </a:solidFill>
                <a:latin typeface="Noto Sans SC"/>
                <a:ea typeface="Noto Sans SC"/>
                <a:cs typeface="Noto Sans SC"/>
                <a:sym typeface="Noto Sans SC"/>
              </a:rPr>
              <a:t>研究总结 · 未来展望</a:t>
            </a:r>
          </a:p>
        </p:txBody>
      </p:sp>
      <p:sp>
        <p:nvSpPr>
          <p:cNvPr name="AutoShape 16" id="16"/>
          <p:cNvSpPr/>
          <p:nvPr/>
        </p:nvSpPr>
        <p:spPr>
          <a:xfrm rot="0" flipH="false" flipV="false">
            <a:off x="6223000" y="4191000"/>
            <a:ext cx="5207000" cy="2159000"/>
          </a:xfrm>
          <a:prstGeom prst="roundRect">
            <a:avLst>
              <a:gd name="adj" fmla="val 7058"/>
            </a:avLst>
          </a:prstGeom>
          <a:solidFill>
            <a:srgbClr val="FFFFFF">
              <a:alpha val="100000"/>
            </a:srgbClr>
          </a:solidFill>
          <a:ln w="12700" cmpd="sng" cap="flat">
            <a:solidFill>
              <a:srgbClr val="E2E8F0">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17" id="17"/>
          <p:cNvSpPr/>
          <p:nvPr/>
        </p:nvSpPr>
        <p:spPr>
          <a:xfrm rot="0" flipH="false" flipV="false">
            <a:off x="6223000" y="4191000"/>
            <a:ext cx="101600" cy="2159000"/>
          </a:xfrm>
          <a:prstGeom prst="roundRect">
            <a:avLst>
              <a:gd name="adj" fmla="val 0"/>
            </a:avLst>
          </a:prstGeom>
          <a:solidFill>
            <a:srgbClr val="0A2540">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8" id="18"/>
          <p:cNvSpPr/>
          <p:nvPr/>
        </p:nvSpPr>
        <p:spPr>
          <a:xfrm rot="0" flipH="false" flipV="false">
            <a:off x="6604000" y="4508500"/>
            <a:ext cx="1016000" cy="1016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4800">
                <a:solidFill>
                  <a:srgbClr val="0A2540"/>
                </a:solidFill>
                <a:latin typeface="Noto Sans SC"/>
                <a:ea typeface="Noto Sans SC"/>
                <a:cs typeface="Noto Sans SC"/>
                <a:sym typeface="Noto Sans SC"/>
              </a:rPr>
              <a:t>04</a:t>
            </a:r>
            <a:endParaRPr lang="en-US" sz="1100"/>
          </a:p>
        </p:txBody>
      </p:sp>
      <p:sp>
        <p:nvSpPr>
          <p:cNvPr name="AutoShape 19" id="19"/>
          <p:cNvSpPr/>
          <p:nvPr/>
        </p:nvSpPr>
        <p:spPr>
          <a:xfrm rot="0" flipH="false" flipV="false">
            <a:off x="7874000" y="4572000"/>
            <a:ext cx="3302000" cy="1397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true" i="false" strike="noStrike" u="none" sz="2200">
                <a:solidFill>
                  <a:srgbClr val="0A2540"/>
                </a:solidFill>
                <a:latin typeface="Noto Sans SC"/>
                <a:ea typeface="Noto Sans SC"/>
                <a:cs typeface="Noto Sans SC"/>
                <a:sym typeface="Noto Sans SC"/>
              </a:rPr>
              <a:t>致 谢</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33333"/>
              </a:lnSpc>
              <a:spcBef>
                <a:spcPts val="1500"/>
              </a:spcBef>
            </a:pPr>
            <a:r>
              <a:rPr lang="en-US" b="false" i="false" strike="noStrike" u="none" sz="1400">
                <a:solidFill>
                  <a:srgbClr val="475569"/>
                </a:solidFill>
                <a:latin typeface="Noto Sans SC"/>
                <a:ea typeface="Noto Sans SC"/>
                <a:cs typeface="Noto Sans SC"/>
                <a:sym typeface="Noto Sans SC"/>
              </a:rPr>
              <a:t>感谢聆听 · 敬请指正</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7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0A2540"/>
                </a:solidFill>
                <a:latin typeface="Noto Sans SC"/>
                <a:ea typeface="Noto Sans SC"/>
                <a:cs typeface="Noto Sans SC"/>
                <a:sym typeface="Noto Sans SC"/>
              </a:rPr>
              <a:t>01 选题原因 - 研究背景</a:t>
            </a:r>
            <a:endParaRPr lang="en-US" sz="1100"/>
          </a:p>
        </p:txBody>
      </p:sp>
      <p:pic>
        <p:nvPicPr>
          <p:cNvPr name="Picture 4" id="4"/>
          <p:cNvPicPr>
            <a:picLocks noChangeAspect="true"/>
          </p:cNvPicPr>
          <p:nvPr/>
        </p:nvPicPr>
        <p:blipFill>
          <a:blip r:embed="rId3"/>
          <a:srcRect l="24248" r="24248" t="0" b="0"/>
          <a:stretch>
            <a:fillRect/>
          </a:stretch>
        </p:blipFill>
        <p:spPr>
          <a:xfrm rot="0" flipH="false" flipV="false">
            <a:off x="762000" y="1778000"/>
            <a:ext cx="4572000" cy="4445000"/>
          </a:xfrm>
          <a:prstGeom prst="roundRect">
            <a:avLst>
              <a:gd name="adj" fmla="val 3428"/>
            </a:avLst>
          </a:prstGeom>
          <a:noFill/>
          <a:ln w="12700" cmpd="sng" cap="flat">
            <a:solidFill>
              <a:srgbClr val="E5E7EB">
                <a:alpha val="100000"/>
              </a:srgbClr>
            </a:solidFill>
            <a:prstDash val="solid"/>
            <a:round/>
          </a:ln>
          <a:effectLst>
            <a:outerShdw dir="2700000" dist="190500" blurRad="444500" algn="tl" rotWithShape="false">
              <a:srgbClr val="000000">
                <a:alpha val="25000"/>
              </a:srgbClr>
            </a:outerShdw>
          </a:effectLst>
        </p:spPr>
      </p:pic>
      <p:sp>
        <p:nvSpPr>
          <p:cNvPr name="AutoShape 5" id="5"/>
          <p:cNvSpPr/>
          <p:nvPr/>
        </p:nvSpPr>
        <p:spPr>
          <a:xfrm rot="0" flipH="false" flipV="false">
            <a:off x="5715000" y="1778000"/>
            <a:ext cx="5715000" cy="1397000"/>
          </a:xfrm>
          <a:prstGeom prst="roundRect">
            <a:avLst>
              <a:gd name="adj" fmla="val 7272"/>
            </a:avLst>
          </a:prstGeom>
          <a:solidFill>
            <a:srgbClr val="FFFFFF">
              <a:alpha val="95000"/>
            </a:srgbClr>
          </a:solidFill>
          <a:ln w="12700" cmpd="sng" cap="flat">
            <a:solidFill>
              <a:srgbClr val="E5E7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5969000" y="2095500"/>
            <a:ext cx="609600" cy="609600"/>
          </a:xfrm>
          <a:prstGeom prst="rect">
            <a:avLst/>
          </a:prstGeom>
        </p:spPr>
      </p:pic>
      <p:sp>
        <p:nvSpPr>
          <p:cNvPr name="AutoShape 7" id="7"/>
          <p:cNvSpPr/>
          <p:nvPr/>
        </p:nvSpPr>
        <p:spPr>
          <a:xfrm rot="0" flipH="false" flipV="false">
            <a:off x="6858000" y="1968500"/>
            <a:ext cx="4318000" cy="1016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0A2540"/>
                </a:solidFill>
                <a:latin typeface="Noto Sans SC"/>
                <a:ea typeface="Noto Sans SC"/>
                <a:cs typeface="Noto Sans SC"/>
                <a:sym typeface="Noto Sans SC"/>
              </a:rPr>
              <a:t>电商模式演进：从平台到独立站</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8333"/>
              </a:lnSpc>
            </a:pPr>
            <a:r>
              <a:rPr lang="en-US" b="false" i="false" strike="noStrike" u="none" sz="1300">
                <a:solidFill>
                  <a:srgbClr val="374151"/>
                </a:solidFill>
                <a:latin typeface="Noto Sans SC"/>
                <a:ea typeface="Noto Sans SC"/>
                <a:cs typeface="Noto Sans SC"/>
                <a:sym typeface="Noto Sans SC"/>
              </a:rPr>
              <a:t>传统第三方平台面临流量成本高、数据归属受限等痛点。企业正转向搭建</a:t>
            </a:r>
            <a:r>
              <a:rPr lang="en-US" b="true" i="false" strike="noStrike" u="none" sz="1300">
                <a:solidFill>
                  <a:srgbClr val="374151"/>
                </a:solidFill>
                <a:latin typeface="Noto Sans SC"/>
                <a:ea typeface="Noto Sans SC"/>
                <a:cs typeface="Noto Sans SC"/>
                <a:sym typeface="Noto Sans SC"/>
              </a:rPr>
              <a:t>独立站</a:t>
            </a:r>
            <a:r>
              <a:rPr lang="en-US" b="false" i="false" strike="noStrike" u="none" sz="1300">
                <a:solidFill>
                  <a:srgbClr val="374151"/>
                </a:solidFill>
                <a:latin typeface="Noto Sans SC"/>
                <a:ea typeface="Noto Sans SC"/>
                <a:cs typeface="Noto Sans SC"/>
                <a:sym typeface="Noto Sans SC"/>
              </a:rPr>
              <a:t>，以获取自有域名、实现自主运营，并构建完整的数据资产闭环。</a:t>
            </a:r>
          </a:p>
        </p:txBody>
      </p:sp>
      <p:sp>
        <p:nvSpPr>
          <p:cNvPr name="AutoShape 8" id="8"/>
          <p:cNvSpPr/>
          <p:nvPr/>
        </p:nvSpPr>
        <p:spPr>
          <a:xfrm rot="0" flipH="false" flipV="false">
            <a:off x="5715000" y="3429000"/>
            <a:ext cx="5715000" cy="1397000"/>
          </a:xfrm>
          <a:prstGeom prst="roundRect">
            <a:avLst>
              <a:gd name="adj" fmla="val 7272"/>
            </a:avLst>
          </a:prstGeom>
          <a:solidFill>
            <a:srgbClr val="FFFFFF">
              <a:alpha val="95000"/>
            </a:srgbClr>
          </a:solidFill>
          <a:ln w="12700" cmpd="sng" cap="flat">
            <a:solidFill>
              <a:srgbClr val="E5E7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9" id="9"/>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5969000" y="3746500"/>
            <a:ext cx="609600" cy="609600"/>
          </a:xfrm>
          <a:prstGeom prst="rect">
            <a:avLst/>
          </a:prstGeom>
        </p:spPr>
      </p:pic>
      <p:sp>
        <p:nvSpPr>
          <p:cNvPr name="AutoShape 10" id="10"/>
          <p:cNvSpPr/>
          <p:nvPr/>
        </p:nvSpPr>
        <p:spPr>
          <a:xfrm rot="0" flipH="false" flipV="false">
            <a:off x="6858000" y="3619500"/>
            <a:ext cx="4318000" cy="1016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0A2540"/>
                </a:solidFill>
                <a:latin typeface="Noto Sans SC"/>
                <a:ea typeface="Noto Sans SC"/>
                <a:cs typeface="Noto Sans SC"/>
                <a:sym typeface="Noto Sans SC"/>
              </a:rPr>
              <a:t>出海新趋势：跨境电商的优选形态</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8333"/>
              </a:lnSpc>
            </a:pPr>
            <a:r>
              <a:rPr lang="en-US" b="false" i="false" strike="noStrike" u="none" sz="1300">
                <a:solidFill>
                  <a:srgbClr val="374151"/>
                </a:solidFill>
                <a:latin typeface="Noto Sans SC"/>
                <a:ea typeface="Noto Sans SC"/>
                <a:cs typeface="Noto Sans SC"/>
                <a:sym typeface="Noto Sans SC"/>
              </a:rPr>
              <a:t>独立站能直接触达海外消费者，消除平台规则限制，并配合 PayPal 等国际支付工具实现便捷交易，已成为连接全球市场的重要电商形态。</a:t>
            </a:r>
          </a:p>
        </p:txBody>
      </p:sp>
      <p:sp>
        <p:nvSpPr>
          <p:cNvPr name="AutoShape 11" id="11"/>
          <p:cNvSpPr/>
          <p:nvPr/>
        </p:nvSpPr>
        <p:spPr>
          <a:xfrm rot="0" flipH="false" flipV="false">
            <a:off x="5715000" y="5080000"/>
            <a:ext cx="5715000" cy="1397000"/>
          </a:xfrm>
          <a:prstGeom prst="roundRect">
            <a:avLst>
              <a:gd name="adj" fmla="val 7272"/>
            </a:avLst>
          </a:prstGeom>
          <a:solidFill>
            <a:srgbClr val="FFFFFF">
              <a:alpha val="95000"/>
            </a:srgbClr>
          </a:solidFill>
          <a:ln w="12700" cmpd="sng" cap="flat">
            <a:solidFill>
              <a:srgbClr val="E5E7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12" id="12"/>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5969000" y="5397500"/>
            <a:ext cx="609600" cy="609600"/>
          </a:xfrm>
          <a:prstGeom prst="rect">
            <a:avLst/>
          </a:prstGeom>
        </p:spPr>
      </p:pic>
      <p:sp>
        <p:nvSpPr>
          <p:cNvPr name="AutoShape 13" id="13"/>
          <p:cNvSpPr/>
          <p:nvPr/>
        </p:nvSpPr>
        <p:spPr>
          <a:xfrm rot="0" flipH="false" flipV="false">
            <a:off x="6858000" y="5270500"/>
            <a:ext cx="4318000" cy="1016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0A2540"/>
                </a:solidFill>
                <a:latin typeface="Noto Sans SC"/>
                <a:ea typeface="Noto Sans SC"/>
                <a:cs typeface="Noto Sans SC"/>
                <a:sym typeface="Noto Sans SC"/>
              </a:rPr>
              <a:t>技术架构：前后端分离已成主流</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8333"/>
              </a:lnSpc>
            </a:pPr>
            <a:r>
              <a:rPr lang="en-US" b="false" i="false" strike="noStrike" u="none" sz="1300">
                <a:solidFill>
                  <a:srgbClr val="374151"/>
                </a:solidFill>
                <a:latin typeface="Noto Sans SC"/>
                <a:ea typeface="Noto Sans SC"/>
                <a:cs typeface="Noto Sans SC"/>
                <a:sym typeface="Noto Sans SC"/>
              </a:rPr>
              <a:t>为了适应多端接入、业务的快速迭代与高效团队协作，采用</a:t>
            </a:r>
            <a:r>
              <a:rPr lang="en-US" b="true" i="false" strike="noStrike" u="none" sz="1300">
                <a:solidFill>
                  <a:srgbClr val="374151"/>
                </a:solidFill>
                <a:latin typeface="Noto Sans SC"/>
                <a:ea typeface="Noto Sans SC"/>
                <a:cs typeface="Noto Sans SC"/>
                <a:sym typeface="Noto Sans SC"/>
              </a:rPr>
              <a:t>前后端分离架构</a:t>
            </a:r>
            <a:r>
              <a:rPr lang="en-US" b="false" i="false" strike="noStrike" u="none" sz="1300">
                <a:solidFill>
                  <a:srgbClr val="374151"/>
                </a:solidFill>
                <a:latin typeface="Noto Sans SC"/>
                <a:ea typeface="Noto Sans SC"/>
                <a:cs typeface="Noto Sans SC"/>
                <a:sym typeface="Noto Sans SC"/>
              </a:rPr>
              <a:t>已成为行业共识，前端专注交互体验，后端聚焦核心逻辑与数据。</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0A2540"/>
                </a:solidFill>
                <a:latin typeface="Noto Sans SC"/>
                <a:ea typeface="Noto Sans SC"/>
                <a:cs typeface="Noto Sans SC"/>
                <a:sym typeface="Noto Sans SC"/>
              </a:rPr>
              <a:t>01 选题原因 - 研究意义</a:t>
            </a:r>
            <a:endParaRPr lang="en-US" sz="1100"/>
          </a:p>
        </p:txBody>
      </p:sp>
      <p:sp>
        <p:nvSpPr>
          <p:cNvPr name="AutoShape 3" id="3"/>
          <p:cNvSpPr/>
          <p:nvPr/>
        </p:nvSpPr>
        <p:spPr>
          <a:xfrm rot="0" flipH="false" flipV="false">
            <a:off x="762000" y="1651000"/>
            <a:ext cx="5207000" cy="4572000"/>
          </a:xfrm>
          <a:prstGeom prst="roundRect">
            <a:avLst>
              <a:gd name="adj" fmla="val 3333"/>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4" id="4"/>
          <p:cNvPicPr>
            <a:picLocks noChangeAspect="true"/>
          </p:cNvPicPr>
          <p:nvPr/>
        </p:nvPicPr>
        <p:blipFill>
          <a:blip r:embed="rId3"/>
          <a:srcRect l="0" r="0" t="11763" b="11763"/>
          <a:stretch>
            <a:fillRect/>
          </a:stretch>
        </p:blipFill>
        <p:spPr>
          <a:xfrm rot="0" flipH="false" flipV="false">
            <a:off x="952500" y="1841500"/>
            <a:ext cx="4826000" cy="1905000"/>
          </a:xfrm>
          <a:prstGeom prst="roundRect">
            <a:avLst>
              <a:gd name="adj" fmla="val 5333"/>
            </a:avLst>
          </a:prstGeom>
          <a:noFill/>
          <a:ln w="25400" cmpd="sng" cap="flat">
            <a:noFill/>
            <a:prstDash val="solid"/>
            <a:round/>
          </a:ln>
        </p:spPr>
      </p:pic>
      <p:sp>
        <p:nvSpPr>
          <p:cNvPr name="AutoShape 5" id="5"/>
          <p:cNvSpPr/>
          <p:nvPr/>
        </p:nvSpPr>
        <p:spPr>
          <a:xfrm rot="0" flipH="false" flipV="false">
            <a:off x="952500" y="3937000"/>
            <a:ext cx="4826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0A2540"/>
                </a:solidFill>
                <a:latin typeface="Noto Sans SC"/>
                <a:ea typeface="Noto Sans SC"/>
                <a:cs typeface="Noto Sans SC"/>
                <a:sym typeface="Noto Sans SC"/>
              </a:rPr>
              <a:t>工程实践意义</a:t>
            </a:r>
            <a:endParaRPr lang="en-US" sz="1100"/>
          </a:p>
        </p:txBody>
      </p:sp>
      <p:sp>
        <p:nvSpPr>
          <p:cNvPr name="AutoShape 6" id="6"/>
          <p:cNvSpPr/>
          <p:nvPr/>
        </p:nvSpPr>
        <p:spPr>
          <a:xfrm rot="0" flipH="false" flipV="false">
            <a:off x="952500" y="4572000"/>
            <a:ext cx="4826000" cy="1524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true" i="false" strike="noStrike" u="none" sz="1300">
                <a:solidFill>
                  <a:srgbClr val="374151"/>
                </a:solidFill>
                <a:latin typeface="Noto Sans SC"/>
                <a:ea typeface="Noto Sans SC"/>
                <a:cs typeface="Noto Sans SC"/>
                <a:sym typeface="Noto Sans SC"/>
              </a:rPr>
              <a:t>• 全流程实践：</a:t>
            </a:r>
            <a:r>
              <a:rPr lang="en-US" b="false" i="false" strike="noStrike" u="none" sz="1200">
                <a:solidFill>
                  <a:srgbClr val="4B5563"/>
                </a:solidFill>
                <a:latin typeface="Noto Sans SC"/>
                <a:ea typeface="Noto Sans SC"/>
                <a:cs typeface="Noto Sans SC"/>
                <a:sym typeface="Noto Sans SC"/>
              </a:rPr>
              <a:t>将分层架构、模块化设计、接口规范与安全认证等软件工程知识落地。</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16666"/>
              </a:lnSpc>
            </a:pPr>
            <a:r>
              <a:rPr lang="en-US" b="true" i="false" strike="noStrike" u="none" sz="1300">
                <a:solidFill>
                  <a:srgbClr val="374151"/>
                </a:solidFill>
                <a:latin typeface="Noto Sans SC"/>
                <a:ea typeface="Noto Sans SC"/>
                <a:cs typeface="Noto Sans SC"/>
                <a:sym typeface="Noto Sans SC"/>
              </a:rPr>
              <a:t>• 后端认知：</a:t>
            </a:r>
            <a:r>
              <a:rPr lang="en-US" b="false" i="false" strike="noStrike" u="none" sz="1200">
                <a:solidFill>
                  <a:srgbClr val="4B5563"/>
                </a:solidFill>
                <a:latin typeface="Noto Sans SC"/>
                <a:ea typeface="Noto Sans SC"/>
                <a:cs typeface="Noto Sans SC"/>
                <a:sym typeface="Noto Sans SC"/>
              </a:rPr>
              <a:t>基于Go+Gin实现Handler→Service→Repository分层，掌握企业级后端开发逻辑。</a:t>
            </a:r>
            <a:r>
              <a:rPr lang="en-US" b="false" i="false" strike="noStrike" u="none" sz="1600">
                <a:solidFill>
                  <a:srgbClr val="1F2329"/>
                </a:solidFill>
                <a:latin typeface="Noto Sans SC"/>
                <a:ea typeface="Noto Sans SC"/>
                <a:cs typeface="Noto Sans SC"/>
                <a:sym typeface="Noto Sans SC"/>
              </a:rPr>
              <a:t/>
            </a:r>
          </a:p>
          <a:p>
            <a:pPr algn="l" indent="0">
              <a:lnSpc>
                <a:spcPct val="116666"/>
              </a:lnSpc>
            </a:pPr>
            <a:r>
              <a:rPr lang="en-US" b="true" i="false" strike="noStrike" u="none" sz="1300">
                <a:solidFill>
                  <a:srgbClr val="374151"/>
                </a:solidFill>
                <a:latin typeface="Noto Sans SC"/>
                <a:ea typeface="Noto Sans SC"/>
                <a:cs typeface="Noto Sans SC"/>
                <a:sym typeface="Noto Sans SC"/>
              </a:rPr>
              <a:t>• 前端认知：</a:t>
            </a:r>
            <a:r>
              <a:rPr lang="en-US" b="false" i="false" strike="noStrike" u="none" sz="1200">
                <a:solidFill>
                  <a:srgbClr val="4B5563"/>
                </a:solidFill>
                <a:latin typeface="Noto Sans SC"/>
                <a:ea typeface="Noto Sans SC"/>
                <a:cs typeface="Noto Sans SC"/>
                <a:sym typeface="Noto Sans SC"/>
              </a:rPr>
              <a:t>融合SPA管理后台与SSR/预渲染前台商城，建立现代前端技术栈全景认知。</a:t>
            </a:r>
          </a:p>
        </p:txBody>
      </p:sp>
      <p:sp>
        <p:nvSpPr>
          <p:cNvPr name="AutoShape 7" id="7"/>
          <p:cNvSpPr/>
          <p:nvPr/>
        </p:nvSpPr>
        <p:spPr>
          <a:xfrm rot="0" flipH="false" flipV="false">
            <a:off x="6223000" y="1651000"/>
            <a:ext cx="5207000" cy="4572000"/>
          </a:xfrm>
          <a:prstGeom prst="roundRect">
            <a:avLst>
              <a:gd name="adj" fmla="val 3333"/>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8" id="8"/>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8140700" y="2032000"/>
            <a:ext cx="1371600" cy="1371600"/>
          </a:xfrm>
          <a:prstGeom prst="rect">
            <a:avLst/>
          </a:prstGeom>
        </p:spPr>
      </p:pic>
      <p:sp>
        <p:nvSpPr>
          <p:cNvPr name="AutoShape 9" id="9"/>
          <p:cNvSpPr/>
          <p:nvPr/>
        </p:nvSpPr>
        <p:spPr>
          <a:xfrm rot="0" flipH="false" flipV="false">
            <a:off x="6413500" y="3683000"/>
            <a:ext cx="4826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000">
                <a:solidFill>
                  <a:srgbClr val="0A2540"/>
                </a:solidFill>
                <a:latin typeface="Noto Sans SC"/>
                <a:ea typeface="Noto Sans SC"/>
                <a:cs typeface="Noto Sans SC"/>
                <a:sym typeface="Noto Sans SC"/>
              </a:rPr>
              <a:t>业务完整性</a:t>
            </a:r>
            <a:endParaRPr lang="en-US" sz="1100"/>
          </a:p>
        </p:txBody>
      </p:sp>
      <p:sp>
        <p:nvSpPr>
          <p:cNvPr name="AutoShape 10" id="10"/>
          <p:cNvSpPr/>
          <p:nvPr/>
        </p:nvSpPr>
        <p:spPr>
          <a:xfrm rot="0" flipH="false" flipV="false">
            <a:off x="6413500" y="4572000"/>
            <a:ext cx="4826000" cy="1524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300">
                <a:solidFill>
                  <a:srgbClr val="374151"/>
                </a:solidFill>
                <a:latin typeface="Noto Sans SC"/>
                <a:ea typeface="Noto Sans SC"/>
                <a:cs typeface="Noto Sans SC"/>
                <a:sym typeface="Noto Sans SC"/>
              </a:rPr>
              <a:t>• 核心业务闭环：</a:t>
            </a:r>
            <a:r>
              <a:rPr lang="en-US" b="false" i="false" strike="noStrike" u="none" sz="1200">
                <a:solidFill>
                  <a:srgbClr val="4B5563"/>
                </a:solidFill>
                <a:latin typeface="Noto Sans SC"/>
                <a:ea typeface="Noto Sans SC"/>
                <a:cs typeface="Noto Sans SC"/>
                <a:sym typeface="Noto Sans SC"/>
              </a:rPr>
              <a:t>覆盖商品管理、SKU维护、购物车、订单流转、PayPal支付集成及用户全生命周期管理，构建完整电商链路。</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true" i="false" strike="noStrike" u="none" sz="1300">
                <a:solidFill>
                  <a:srgbClr val="374151"/>
                </a:solidFill>
                <a:latin typeface="Noto Sans SC"/>
                <a:ea typeface="Noto Sans SC"/>
                <a:cs typeface="Noto Sans SC"/>
                <a:sym typeface="Noto Sans SC"/>
              </a:rPr>
              <a:t>• 双端协同价值：</a:t>
            </a:r>
            <a:r>
              <a:rPr lang="en-US" b="false" i="false" strike="noStrike" u="none" sz="1200">
                <a:solidFill>
                  <a:srgbClr val="4B5563"/>
                </a:solidFill>
                <a:latin typeface="Noto Sans SC"/>
                <a:ea typeface="Noto Sans SC"/>
                <a:cs typeface="Noto Sans SC"/>
                <a:sym typeface="Noto Sans SC"/>
              </a:rPr>
              <a:t>打造支撑运营人员的后台管理端与面向C端用户的前台消费端，具备可落地的真实商业价值。</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7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0A2540"/>
                </a:solidFill>
                <a:latin typeface="Noto Sans SC"/>
                <a:ea typeface="Noto Sans SC"/>
                <a:cs typeface="Noto Sans SC"/>
                <a:sym typeface="Noto Sans SC"/>
              </a:rPr>
              <a:t>02 论文框架与重点 - 研究内容</a:t>
            </a:r>
            <a:endParaRPr lang="en-US" sz="1100"/>
          </a:p>
        </p:txBody>
      </p:sp>
      <p:pic>
        <p:nvPicPr>
          <p:cNvPr name="Picture 4" id="4"/>
          <p:cNvPicPr>
            <a:picLocks noChangeAspect="true"/>
          </p:cNvPicPr>
          <p:nvPr/>
        </p:nvPicPr>
        <p:blipFill>
          <a:blip r:embed="rId3"/>
          <a:srcRect l="14174" r="14174" t="0" b="0"/>
          <a:stretch>
            <a:fillRect/>
          </a:stretch>
        </p:blipFill>
        <p:spPr>
          <a:xfrm rot="0" flipH="false" flipV="false">
            <a:off x="762000" y="1651000"/>
            <a:ext cx="5080000" cy="4445000"/>
          </a:xfrm>
          <a:prstGeom prst="roundRect">
            <a:avLst>
              <a:gd name="adj" fmla="val 3428"/>
            </a:avLst>
          </a:prstGeom>
          <a:noFill/>
          <a:ln w="38100" cmpd="sng" cap="flat">
            <a:solidFill>
              <a:srgbClr val="FFFFFF">
                <a:alpha val="100000"/>
              </a:srgbClr>
            </a:solidFill>
            <a:prstDash val="solid"/>
            <a:round/>
          </a:ln>
          <a:effectLst>
            <a:outerShdw dir="2700000" dist="190500" blurRad="444500" algn="tl" rotWithShape="false">
              <a:srgbClr val="000000">
                <a:alpha val="25000"/>
              </a:srgbClr>
            </a:outerShdw>
          </a:effectLst>
        </p:spPr>
      </p:pic>
      <p:sp>
        <p:nvSpPr>
          <p:cNvPr name="AutoShape 5" id="5"/>
          <p:cNvSpPr/>
          <p:nvPr/>
        </p:nvSpPr>
        <p:spPr>
          <a:xfrm rot="0" flipH="false" flipV="false">
            <a:off x="6223000" y="1651000"/>
            <a:ext cx="1841500" cy="2095500"/>
          </a:xfrm>
          <a:prstGeom prst="roundRect">
            <a:avLst>
              <a:gd name="adj" fmla="val 5517"/>
            </a:avLst>
          </a:prstGeom>
          <a:solidFill>
            <a:srgbClr val="FFFFFF">
              <a:alpha val="100000"/>
            </a:srgbClr>
          </a:solidFill>
          <a:ln w="12700" cmpd="sng" cap="flat">
            <a:solidFill>
              <a:srgbClr val="E2E8F0">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6" id="6"/>
          <p:cNvSpPr/>
          <p:nvPr/>
        </p:nvSpPr>
        <p:spPr>
          <a:xfrm rot="0" flipH="false" flipV="false">
            <a:off x="6350000" y="1778000"/>
            <a:ext cx="1587500" cy="18415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2000">
                <a:solidFill>
                  <a:srgbClr val="0A2540"/>
                </a:solidFill>
                <a:latin typeface="Noto Sans SC"/>
                <a:ea typeface="Noto Sans SC"/>
                <a:cs typeface="Noto Sans SC"/>
                <a:sym typeface="Noto Sans SC"/>
              </a:rPr>
              <a:t>01</a:t>
            </a:r>
            <a:r>
              <a:rPr lang="en-US" b="true" i="false" strike="noStrike" u="none" sz="1400">
                <a:solidFill>
                  <a:srgbClr val="1E293B"/>
                </a:solidFill>
                <a:latin typeface="Noto Sans SC"/>
                <a:ea typeface="Noto Sans SC"/>
                <a:cs typeface="Noto Sans SC"/>
                <a:sym typeface="Noto Sans SC"/>
              </a:rPr>
              <a:t>系统总体设计</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8333"/>
              </a:lnSpc>
              <a:spcBef>
                <a:spcPts val="800"/>
              </a:spcBef>
            </a:pPr>
            <a:r>
              <a:rPr lang="en-US" b="false" i="false" strike="noStrike" u="none" sz="1100">
                <a:solidFill>
                  <a:srgbClr val="475569"/>
                </a:solidFill>
                <a:latin typeface="Noto Sans SC"/>
                <a:ea typeface="Noto Sans SC"/>
                <a:cs typeface="Noto Sans SC"/>
                <a:sym typeface="Noto Sans SC"/>
              </a:rPr>
              <a:t>确定后端API、管理后台与前台商城三个子系统的划分，设计接口规范与数据流向。</a:t>
            </a:r>
          </a:p>
        </p:txBody>
      </p:sp>
      <p:sp>
        <p:nvSpPr>
          <p:cNvPr name="AutoShape 7" id="7"/>
          <p:cNvSpPr/>
          <p:nvPr/>
        </p:nvSpPr>
        <p:spPr>
          <a:xfrm rot="0" flipH="false" flipV="false">
            <a:off x="8255000" y="1651000"/>
            <a:ext cx="1841500" cy="2095500"/>
          </a:xfrm>
          <a:prstGeom prst="roundRect">
            <a:avLst>
              <a:gd name="adj" fmla="val 5517"/>
            </a:avLst>
          </a:prstGeom>
          <a:solidFill>
            <a:srgbClr val="FFFFFF">
              <a:alpha val="100000"/>
            </a:srgbClr>
          </a:solidFill>
          <a:ln w="12700" cmpd="sng" cap="flat">
            <a:solidFill>
              <a:srgbClr val="E2E8F0">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8" id="8"/>
          <p:cNvSpPr/>
          <p:nvPr/>
        </p:nvSpPr>
        <p:spPr>
          <a:xfrm rot="0" flipH="false" flipV="false">
            <a:off x="8382000" y="1778000"/>
            <a:ext cx="1587500" cy="18415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2000">
                <a:solidFill>
                  <a:srgbClr val="0A2540"/>
                </a:solidFill>
                <a:latin typeface="Noto Sans SC"/>
                <a:ea typeface="Noto Sans SC"/>
                <a:cs typeface="Noto Sans SC"/>
                <a:sym typeface="Noto Sans SC"/>
              </a:rPr>
              <a:t>02</a:t>
            </a:r>
            <a:r>
              <a:rPr lang="en-US" b="true" i="false" strike="noStrike" u="none" sz="1400">
                <a:solidFill>
                  <a:srgbClr val="1E293B"/>
                </a:solidFill>
                <a:latin typeface="Noto Sans SC"/>
                <a:ea typeface="Noto Sans SC"/>
                <a:cs typeface="Noto Sans SC"/>
                <a:sym typeface="Noto Sans SC"/>
              </a:rPr>
              <a:t>后端服务构建</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8333"/>
              </a:lnSpc>
              <a:spcBef>
                <a:spcPts val="800"/>
              </a:spcBef>
            </a:pPr>
            <a:r>
              <a:rPr lang="en-US" b="false" i="false" strike="noStrike" u="none" sz="1100">
                <a:solidFill>
                  <a:srgbClr val="475569"/>
                </a:solidFill>
                <a:latin typeface="Noto Sans SC"/>
                <a:ea typeface="Noto Sans SC"/>
                <a:cs typeface="Noto Sans SC"/>
                <a:sym typeface="Noto Sans SC"/>
              </a:rPr>
              <a:t>基于 Go + Gin 框架构建统一后端 API，实现用户、订单等核心业务逻辑模块。</a:t>
            </a:r>
          </a:p>
        </p:txBody>
      </p:sp>
      <p:sp>
        <p:nvSpPr>
          <p:cNvPr name="AutoShape 9" id="9"/>
          <p:cNvSpPr/>
          <p:nvPr/>
        </p:nvSpPr>
        <p:spPr>
          <a:xfrm rot="0" flipH="false" flipV="false">
            <a:off x="10287000" y="1651000"/>
            <a:ext cx="1841500" cy="2095500"/>
          </a:xfrm>
          <a:prstGeom prst="roundRect">
            <a:avLst>
              <a:gd name="adj" fmla="val 5517"/>
            </a:avLst>
          </a:prstGeom>
          <a:solidFill>
            <a:srgbClr val="FFFFFF">
              <a:alpha val="100000"/>
            </a:srgbClr>
          </a:solidFill>
          <a:ln w="12700" cmpd="sng" cap="flat">
            <a:solidFill>
              <a:srgbClr val="E2E8F0">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10414000" y="1778000"/>
            <a:ext cx="1587500" cy="18415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2000">
                <a:solidFill>
                  <a:srgbClr val="0A2540"/>
                </a:solidFill>
                <a:latin typeface="Noto Sans SC"/>
                <a:ea typeface="Noto Sans SC"/>
                <a:cs typeface="Noto Sans SC"/>
                <a:sym typeface="Noto Sans SC"/>
              </a:rPr>
              <a:t>03</a:t>
            </a:r>
            <a:r>
              <a:rPr lang="en-US" b="true" i="false" strike="noStrike" u="none" sz="1400">
                <a:solidFill>
                  <a:srgbClr val="1E293B"/>
                </a:solidFill>
                <a:latin typeface="Noto Sans SC"/>
                <a:ea typeface="Noto Sans SC"/>
                <a:cs typeface="Noto Sans SC"/>
                <a:sym typeface="Noto Sans SC"/>
              </a:rPr>
              <a:t>管理后台开发</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8333"/>
              </a:lnSpc>
              <a:spcBef>
                <a:spcPts val="800"/>
              </a:spcBef>
            </a:pPr>
            <a:r>
              <a:rPr lang="en-US" b="false" i="false" strike="noStrike" u="none" sz="1100">
                <a:solidFill>
                  <a:srgbClr val="475569"/>
                </a:solidFill>
                <a:latin typeface="Noto Sans SC"/>
                <a:ea typeface="Noto Sans SC"/>
                <a:cs typeface="Noto Sans SC"/>
                <a:sym typeface="Noto Sans SC"/>
              </a:rPr>
              <a:t>基于 Vue 3 + Vite + Ant Design Vue 技术栈，实现完整的商品与订单运营管理功能。</a:t>
            </a:r>
          </a:p>
        </p:txBody>
      </p:sp>
      <p:sp>
        <p:nvSpPr>
          <p:cNvPr name="AutoShape 11" id="11"/>
          <p:cNvSpPr/>
          <p:nvPr/>
        </p:nvSpPr>
        <p:spPr>
          <a:xfrm rot="0" flipH="false" flipV="false">
            <a:off x="6223000" y="4000500"/>
            <a:ext cx="2794000" cy="2095500"/>
          </a:xfrm>
          <a:prstGeom prst="roundRect">
            <a:avLst>
              <a:gd name="adj" fmla="val 4848"/>
            </a:avLst>
          </a:prstGeom>
          <a:solidFill>
            <a:srgbClr val="FFFFFF">
              <a:alpha val="100000"/>
            </a:srgbClr>
          </a:solidFill>
          <a:ln w="12700" cmpd="sng" cap="flat">
            <a:solidFill>
              <a:srgbClr val="E2E8F0">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12" id="12"/>
          <p:cNvSpPr/>
          <p:nvPr/>
        </p:nvSpPr>
        <p:spPr>
          <a:xfrm rot="0" flipH="false" flipV="false">
            <a:off x="6350000" y="4127500"/>
            <a:ext cx="2540000" cy="18415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2000">
                <a:solidFill>
                  <a:srgbClr val="0A2540"/>
                </a:solidFill>
                <a:latin typeface="Noto Sans SC"/>
                <a:ea typeface="Noto Sans SC"/>
                <a:cs typeface="Noto Sans SC"/>
                <a:sym typeface="Noto Sans SC"/>
              </a:rPr>
              <a:t>04</a:t>
            </a:r>
            <a:r>
              <a:rPr lang="en-US" b="true" i="false" strike="noStrike" u="none" sz="1400">
                <a:solidFill>
                  <a:srgbClr val="1E293B"/>
                </a:solidFill>
                <a:latin typeface="Noto Sans SC"/>
                <a:ea typeface="Noto Sans SC"/>
                <a:cs typeface="Noto Sans SC"/>
                <a:sym typeface="Noto Sans SC"/>
              </a:rPr>
              <a:t>前台商城实现</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8333"/>
              </a:lnSpc>
              <a:spcBef>
                <a:spcPts val="800"/>
              </a:spcBef>
            </a:pPr>
            <a:r>
              <a:rPr lang="en-US" b="false" i="false" strike="noStrike" u="none" sz="1100">
                <a:solidFill>
                  <a:srgbClr val="475569"/>
                </a:solidFill>
                <a:latin typeface="Noto Sans SC"/>
                <a:ea typeface="Noto Sans SC"/>
                <a:cs typeface="Noto Sans SC"/>
                <a:sym typeface="Noto Sans SC"/>
              </a:rPr>
              <a:t>基于 Nuxt 4 + Vue 3 构建服务端渲染的前台页面，优化首屏加载速度，实现完整流畅的购物流程体验。</a:t>
            </a:r>
          </a:p>
        </p:txBody>
      </p:sp>
      <p:sp>
        <p:nvSpPr>
          <p:cNvPr name="AutoShape 13" id="13"/>
          <p:cNvSpPr/>
          <p:nvPr/>
        </p:nvSpPr>
        <p:spPr>
          <a:xfrm rot="0" flipH="false" flipV="false">
            <a:off x="9271000" y="4000500"/>
            <a:ext cx="2794000" cy="2095500"/>
          </a:xfrm>
          <a:prstGeom prst="roundRect">
            <a:avLst>
              <a:gd name="adj" fmla="val 4848"/>
            </a:avLst>
          </a:prstGeom>
          <a:solidFill>
            <a:srgbClr val="FFFFFF">
              <a:alpha val="100000"/>
            </a:srgbClr>
          </a:solidFill>
          <a:ln w="12700" cmpd="sng" cap="flat">
            <a:solidFill>
              <a:srgbClr val="E2E8F0">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9398000" y="4127500"/>
            <a:ext cx="2540000" cy="18415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2000">
                <a:solidFill>
                  <a:srgbClr val="0A2540"/>
                </a:solidFill>
                <a:latin typeface="Noto Sans SC"/>
                <a:ea typeface="Noto Sans SC"/>
                <a:cs typeface="Noto Sans SC"/>
                <a:sym typeface="Noto Sans SC"/>
              </a:rPr>
              <a:t>05</a:t>
            </a:r>
            <a:r>
              <a:rPr lang="en-US" b="true" i="false" strike="noStrike" u="none" sz="1400">
                <a:solidFill>
                  <a:srgbClr val="1E293B"/>
                </a:solidFill>
                <a:latin typeface="Noto Sans SC"/>
                <a:ea typeface="Noto Sans SC"/>
                <a:cs typeface="Noto Sans SC"/>
                <a:sym typeface="Noto Sans SC"/>
              </a:rPr>
              <a:t>系统联调与验证</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8333"/>
              </a:lnSpc>
              <a:spcBef>
                <a:spcPts val="800"/>
              </a:spcBef>
            </a:pPr>
            <a:r>
              <a:rPr lang="en-US" b="false" i="false" strike="noStrike" u="none" sz="1100">
                <a:solidFill>
                  <a:srgbClr val="475569"/>
                </a:solidFill>
                <a:latin typeface="Noto Sans SC"/>
                <a:ea typeface="Noto Sans SC"/>
                <a:cs typeface="Noto Sans SC"/>
                <a:sym typeface="Noto Sans SC"/>
              </a:rPr>
              <a:t>进行全链路的接口与功能联调，验证核心业务流程的闭环能力，确保系统具备可部署性与可演示性。</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7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0A2540"/>
                </a:solidFill>
                <a:latin typeface="Noto Sans SC"/>
                <a:ea typeface="Noto Sans SC"/>
                <a:cs typeface="Noto Sans SC"/>
                <a:sym typeface="Noto Sans SC"/>
              </a:rPr>
              <a:t>02 论文框架与重点 - 研究思路</a:t>
            </a:r>
            <a:endParaRPr lang="en-US" sz="1100"/>
          </a:p>
        </p:txBody>
      </p:sp>
      <p:pic>
        <p:nvPicPr>
          <p:cNvPr name="Picture 4" id="4"/>
          <p:cNvPicPr>
            <a:picLocks noChangeAspect="true"/>
          </p:cNvPicPr>
          <p:nvPr/>
        </p:nvPicPr>
        <p:blipFill>
          <a:blip r:embed="rId3"/>
          <a:srcRect l="20504" r="20504" t="0" b="0"/>
          <a:stretch>
            <a:fillRect/>
          </a:stretch>
        </p:blipFill>
        <p:spPr>
          <a:xfrm rot="0" flipH="false" flipV="false">
            <a:off x="762000" y="1778000"/>
            <a:ext cx="5080000" cy="4445000"/>
          </a:xfrm>
          <a:prstGeom prst="rect">
            <a:avLst/>
          </a:prstGeom>
          <a:noFill/>
          <a:ln w="12700" cmpd="sng" cap="flat">
            <a:solidFill>
              <a:srgbClr val="0A2540">
                <a:alpha val="15000"/>
              </a:srgbClr>
            </a:solidFill>
            <a:prstDash val="solid"/>
            <a:round/>
          </a:ln>
          <a:effectLst>
            <a:outerShdw dir="2700000" dist="190500" blurRad="444500" algn="tl" rotWithShape="false">
              <a:srgbClr val="000000">
                <a:alpha val="25000"/>
              </a:srgbClr>
            </a:outerShdw>
          </a:effectLst>
        </p:spPr>
      </p:pic>
      <p:sp>
        <p:nvSpPr>
          <p:cNvPr name="AutoShape 5" id="5"/>
          <p:cNvSpPr/>
          <p:nvPr/>
        </p:nvSpPr>
        <p:spPr>
          <a:xfrm rot="0" flipH="false" flipV="false">
            <a:off x="6223000" y="1778000"/>
            <a:ext cx="5207000" cy="1397000"/>
          </a:xfrm>
          <a:prstGeom prst="roundRect">
            <a:avLst>
              <a:gd name="adj" fmla="val 10909"/>
            </a:avLst>
          </a:prstGeom>
          <a:solidFill>
            <a:srgbClr val="FFFFFF">
              <a:alpha val="95000"/>
            </a:srgbClr>
          </a:solidFill>
          <a:ln w="12700" cmpd="sng" cap="flat">
            <a:solidFill>
              <a:srgbClr val="E6EBF5">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6477000" y="2032000"/>
            <a:ext cx="457200" cy="457200"/>
          </a:xfrm>
          <a:prstGeom prst="rect">
            <a:avLst/>
          </a:prstGeom>
        </p:spPr>
      </p:pic>
      <p:sp>
        <p:nvSpPr>
          <p:cNvPr name="AutoShape 7" id="7"/>
          <p:cNvSpPr/>
          <p:nvPr/>
        </p:nvSpPr>
        <p:spPr>
          <a:xfrm rot="0" flipH="false" flipV="false">
            <a:off x="7112000" y="1968500"/>
            <a:ext cx="4064000" cy="1016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0A2540"/>
                </a:solidFill>
                <a:latin typeface="Noto Sans SC"/>
                <a:ea typeface="Noto Sans SC"/>
                <a:cs typeface="Noto Sans SC"/>
                <a:sym typeface="Noto Sans SC"/>
              </a:rPr>
              <a:t>总体架构：前后端分离</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8333"/>
              </a:lnSpc>
            </a:pPr>
            <a:r>
              <a:rPr lang="en-US" b="false" i="false" strike="noStrike" u="none" sz="1200">
                <a:solidFill>
                  <a:srgbClr val="374151"/>
                </a:solidFill>
                <a:latin typeface="Noto Sans SC"/>
                <a:ea typeface="Noto Sans SC"/>
                <a:cs typeface="Noto Sans SC"/>
                <a:sym typeface="Noto Sans SC"/>
              </a:rPr>
              <a:t>系统由后端API、管理后台、前台商城三个独立子系统构成。前端通过RESTful API与后端通信，实现开发、部署、运行的完全分离，降低系统耦合度。</a:t>
            </a:r>
          </a:p>
        </p:txBody>
      </p:sp>
      <p:sp>
        <p:nvSpPr>
          <p:cNvPr name="AutoShape 8" id="8"/>
          <p:cNvSpPr/>
          <p:nvPr/>
        </p:nvSpPr>
        <p:spPr>
          <a:xfrm rot="0" flipH="false" flipV="false">
            <a:off x="6223000" y="3429000"/>
            <a:ext cx="5207000" cy="1651000"/>
          </a:xfrm>
          <a:prstGeom prst="roundRect">
            <a:avLst>
              <a:gd name="adj" fmla="val 9230"/>
            </a:avLst>
          </a:prstGeom>
          <a:solidFill>
            <a:srgbClr val="FFFFFF">
              <a:alpha val="95000"/>
            </a:srgbClr>
          </a:solidFill>
          <a:ln w="12700" cmpd="sng" cap="flat">
            <a:solidFill>
              <a:srgbClr val="E6EBF5">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9" id="9"/>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6477000" y="3873500"/>
            <a:ext cx="457200" cy="457200"/>
          </a:xfrm>
          <a:prstGeom prst="rect">
            <a:avLst/>
          </a:prstGeom>
        </p:spPr>
      </p:pic>
      <p:sp>
        <p:nvSpPr>
          <p:cNvPr name="AutoShape 10" id="10"/>
          <p:cNvSpPr/>
          <p:nvPr/>
        </p:nvSpPr>
        <p:spPr>
          <a:xfrm rot="0" flipH="false" flipV="false">
            <a:off x="7112000" y="3619500"/>
            <a:ext cx="4064000" cy="1270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0A2540"/>
                </a:solidFill>
                <a:latin typeface="Noto Sans SC"/>
                <a:ea typeface="Noto Sans SC"/>
                <a:cs typeface="Noto Sans SC"/>
                <a:sym typeface="Noto Sans SC"/>
              </a:rPr>
              <a:t>后端架构：分层设计</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8333"/>
              </a:lnSpc>
            </a:pPr>
            <a:r>
              <a:rPr lang="en-US" b="false" i="false" strike="noStrike" u="none" sz="1200">
                <a:solidFill>
                  <a:srgbClr val="374151"/>
                </a:solidFill>
                <a:latin typeface="Noto Sans SC"/>
                <a:ea typeface="Noto Sans SC"/>
                <a:cs typeface="Noto Sans SC"/>
                <a:sym typeface="Noto Sans SC"/>
              </a:rPr>
              <a:t>采用</a:t>
            </a:r>
            <a:r>
              <a:rPr lang="en-US" b="true" i="false" strike="noStrike" u="none" sz="1200">
                <a:solidFill>
                  <a:srgbClr val="374151"/>
                </a:solidFill>
                <a:latin typeface="Noto Sans SC"/>
                <a:ea typeface="Noto Sans SC"/>
                <a:cs typeface="Noto Sans SC"/>
                <a:sym typeface="Noto Sans SC"/>
              </a:rPr>
              <a:t>Handler → Service → Repository</a:t>
            </a:r>
            <a:r>
              <a:rPr lang="en-US" b="false" i="false" strike="noStrike" u="none" sz="1200">
                <a:solidFill>
                  <a:srgbClr val="374151"/>
                </a:solidFill>
                <a:latin typeface="Noto Sans SC"/>
                <a:ea typeface="Noto Sans SC"/>
                <a:cs typeface="Noto Sans SC"/>
                <a:sym typeface="Noto Sans SC"/>
              </a:rPr>
              <a:t>经典三层架构：Handler层负责请求解析与封装；Service层处理核心业务逻辑与事务；Repository层负责底层数据访问，职责边界清晰。</a:t>
            </a:r>
          </a:p>
        </p:txBody>
      </p:sp>
      <p:sp>
        <p:nvSpPr>
          <p:cNvPr name="AutoShape 11" id="11"/>
          <p:cNvSpPr/>
          <p:nvPr/>
        </p:nvSpPr>
        <p:spPr>
          <a:xfrm rot="0" flipH="false" flipV="false">
            <a:off x="6223000" y="5207000"/>
            <a:ext cx="5207000" cy="1397000"/>
          </a:xfrm>
          <a:prstGeom prst="roundRect">
            <a:avLst>
              <a:gd name="adj" fmla="val 10909"/>
            </a:avLst>
          </a:prstGeom>
          <a:solidFill>
            <a:srgbClr val="FFFFFF">
              <a:alpha val="95000"/>
            </a:srgbClr>
          </a:solidFill>
          <a:ln w="12700" cmpd="sng" cap="flat">
            <a:solidFill>
              <a:srgbClr val="E6EBF5">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12" id="12"/>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6477000" y="5524500"/>
            <a:ext cx="457200" cy="457200"/>
          </a:xfrm>
          <a:prstGeom prst="rect">
            <a:avLst/>
          </a:prstGeom>
        </p:spPr>
      </p:pic>
      <p:sp>
        <p:nvSpPr>
          <p:cNvPr name="AutoShape 13" id="13"/>
          <p:cNvSpPr/>
          <p:nvPr/>
        </p:nvSpPr>
        <p:spPr>
          <a:xfrm rot="0" flipH="false" flipV="false">
            <a:off x="7112000" y="5334000"/>
            <a:ext cx="4064000" cy="1143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0A2540"/>
                </a:solidFill>
                <a:latin typeface="Noto Sans SC"/>
                <a:ea typeface="Noto Sans SC"/>
                <a:cs typeface="Noto Sans SC"/>
                <a:sym typeface="Noto Sans SC"/>
              </a:rPr>
              <a:t>认证与安全设计</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8333"/>
              </a:lnSpc>
            </a:pPr>
            <a:r>
              <a:rPr lang="en-US" b="false" i="false" strike="noStrike" u="none" sz="1200">
                <a:solidFill>
                  <a:srgbClr val="374151"/>
                </a:solidFill>
                <a:latin typeface="Noto Sans SC"/>
                <a:ea typeface="Noto Sans SC"/>
                <a:cs typeface="Noto Sans SC"/>
                <a:sym typeface="Noto Sans SC"/>
              </a:rPr>
              <a:t>• 管理员：Redis Session 管理登录状态 • 前台用户：JWT 实现无状态认证</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200">
                <a:solidFill>
                  <a:srgbClr val="374151"/>
                </a:solidFill>
                <a:latin typeface="Noto Sans SC"/>
                <a:ea typeface="Noto Sans SC"/>
                <a:cs typeface="Noto Sans SC"/>
                <a:sym typeface="Noto Sans SC"/>
              </a:rPr>
              <a:t>• 游客模式：引入设备指纹技术，实现未登录状态下的购物车功能支持</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0A2540"/>
                </a:solidFill>
                <a:latin typeface="Noto Sans SC"/>
                <a:ea typeface="Noto Sans SC"/>
                <a:cs typeface="Noto Sans SC"/>
                <a:sym typeface="Noto Sans SC"/>
              </a:rPr>
              <a:t>02 论文框架与重点 - 研究方法</a:t>
            </a:r>
            <a:endParaRPr lang="en-US" sz="1100"/>
          </a:p>
        </p:txBody>
      </p:sp>
      <p:sp>
        <p:nvSpPr>
          <p:cNvPr name="AutoShape 3" id="3"/>
          <p:cNvSpPr/>
          <p:nvPr/>
        </p:nvSpPr>
        <p:spPr>
          <a:xfrm rot="0" flipH="false" flipV="false">
            <a:off x="762000" y="1778000"/>
            <a:ext cx="3302000" cy="4445000"/>
          </a:xfrm>
          <a:prstGeom prst="roundRect">
            <a:avLst>
              <a:gd name="adj" fmla="val 4615"/>
            </a:avLst>
          </a:prstGeom>
          <a:solidFill>
            <a:srgbClr val="FFFFFF">
              <a:alpha val="100000"/>
            </a:srgbClr>
          </a:solidFill>
          <a:ln w="12700" cmpd="sng" cap="flat">
            <a:solidFill>
              <a:srgbClr val="E5E7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4" id="4"/>
          <p:cNvPicPr>
            <a:picLocks noChangeAspect="true"/>
          </p:cNvPicPr>
          <p:nvPr/>
        </p:nvPicPr>
        <p:blipFill>
          <a:blip r:embed="rId3"/>
          <a:srcRect l="1111" r="1111" t="0" b="0"/>
          <a:stretch>
            <a:fillRect/>
          </a:stretch>
        </p:blipFill>
        <p:spPr>
          <a:xfrm rot="0" flipH="false" flipV="false">
            <a:off x="1524000" y="2032000"/>
            <a:ext cx="1778000" cy="952500"/>
          </a:xfrm>
          <a:prstGeom prst="rect">
            <a:avLst/>
          </a:prstGeom>
          <a:noFill/>
          <a:ln w="25400" cmpd="sng" cap="flat">
            <a:noFill/>
            <a:prstDash val="solid"/>
            <a:round/>
          </a:ln>
        </p:spPr>
      </p:pic>
      <p:sp>
        <p:nvSpPr>
          <p:cNvPr name="AutoShape 5" id="5"/>
          <p:cNvSpPr/>
          <p:nvPr/>
        </p:nvSpPr>
        <p:spPr>
          <a:xfrm rot="0" flipH="false" flipV="false">
            <a:off x="889000" y="3175000"/>
            <a:ext cx="3048000" cy="4445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000">
                <a:solidFill>
                  <a:srgbClr val="0A2540"/>
                </a:solidFill>
                <a:latin typeface="Noto Sans SC"/>
                <a:ea typeface="Noto Sans SC"/>
                <a:cs typeface="Noto Sans SC"/>
                <a:sym typeface="Noto Sans SC"/>
              </a:rPr>
              <a:t>后端技术栈</a:t>
            </a:r>
            <a:endParaRPr lang="en-US" sz="1100"/>
          </a:p>
        </p:txBody>
      </p:sp>
      <p:sp>
        <p:nvSpPr>
          <p:cNvPr name="AutoShape 6" id="6"/>
          <p:cNvSpPr/>
          <p:nvPr/>
        </p:nvSpPr>
        <p:spPr>
          <a:xfrm rot="0" flipH="false" flipV="false">
            <a:off x="952500" y="3937000"/>
            <a:ext cx="2921000" cy="2032000"/>
          </a:xfrm>
          <a:prstGeom prst="roundRect">
            <a:avLst>
              <a:gd name="adj" fmla="val 5000"/>
            </a:avLst>
          </a:prstGeom>
          <a:solidFill>
            <a:srgbClr val="F0F5FF">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7" id="7"/>
          <p:cNvSpPr/>
          <p:nvPr/>
        </p:nvSpPr>
        <p:spPr>
          <a:xfrm rot="0" flipH="false" flipV="false">
            <a:off x="1079500" y="4127500"/>
            <a:ext cx="2667000" cy="1651000"/>
          </a:xfrm>
          <a:prstGeom prst="rect">
            <a:avLst/>
          </a:prstGeom>
          <a:noFill/>
          <a:ln w="12700" cmpd="sng" cap="flat">
            <a:noFill/>
            <a:prstDash val="solid"/>
            <a:round/>
          </a:ln>
        </p:spPr>
        <p:txBody>
          <a:bodyPr anchor="t" rtlCol="false" anchorCtr="false" vert="horz" wrap="square" lIns="0" rIns="0" tIns="0" bIns="0"/>
          <a:lstStyle/>
          <a:p>
            <a:pPr algn="l" indent="0">
              <a:lnSpc>
                <a:spcPct val="125000"/>
              </a:lnSpc>
              <a:defRPr/>
            </a:pPr>
            <a:r>
              <a:rPr lang="en-US" b="true" i="false" strike="noStrike" u="none" sz="1300">
                <a:solidFill>
                  <a:srgbClr val="1F2937"/>
                </a:solidFill>
                <a:latin typeface="Noto Sans SC"/>
                <a:ea typeface="Noto Sans SC"/>
                <a:cs typeface="Noto Sans SC"/>
                <a:sym typeface="Noto Sans SC"/>
              </a:rPr>
              <a:t>语言与框架：</a:t>
            </a:r>
            <a:r>
              <a:rPr lang="en-US" b="false" i="false" strike="noStrike" u="none" sz="1300">
                <a:solidFill>
                  <a:srgbClr val="4B5563"/>
                </a:solidFill>
                <a:latin typeface="Noto Sans SC"/>
                <a:ea typeface="Noto Sans SC"/>
                <a:cs typeface="Noto Sans SC"/>
                <a:sym typeface="Noto Sans SC"/>
              </a:rPr>
              <a:t>Go + Gin</a:t>
            </a:r>
            <a:r>
              <a:rPr lang="en-US" b="false" i="false" strike="noStrike" u="none" sz="1300">
                <a:solidFill>
                  <a:srgbClr val="1F2329"/>
                </a:solidFill>
                <a:latin typeface="Noto Sans SC"/>
                <a:ea typeface="Noto Sans SC"/>
                <a:cs typeface="Noto Sans SC"/>
                <a:sym typeface="Noto Sans SC"/>
              </a:rPr>
              <a:t/>
            </a:r>
            <a:endParaRPr lang="en-US" sz="1100"/>
          </a:p>
          <a:p>
            <a:pPr algn="l" indent="0">
              <a:lnSpc>
                <a:spcPct val="125000"/>
              </a:lnSpc>
            </a:pPr>
            <a:r>
              <a:rPr lang="en-US" b="true" i="false" strike="noStrike" u="none" sz="1300">
                <a:solidFill>
                  <a:srgbClr val="1F2937"/>
                </a:solidFill>
                <a:latin typeface="Noto Sans SC"/>
                <a:ea typeface="Noto Sans SC"/>
                <a:cs typeface="Noto Sans SC"/>
                <a:sym typeface="Noto Sans SC"/>
              </a:rPr>
              <a:t>数据与缓存：</a:t>
            </a:r>
            <a:r>
              <a:rPr lang="en-US" b="false" i="false" strike="noStrike" u="none" sz="1300">
                <a:solidFill>
                  <a:srgbClr val="4B5563"/>
                </a:solidFill>
                <a:latin typeface="Noto Sans SC"/>
                <a:ea typeface="Noto Sans SC"/>
                <a:cs typeface="Noto Sans SC"/>
                <a:sym typeface="Noto Sans SC"/>
              </a:rPr>
              <a:t>MySQL, Redis (GORM)</a:t>
            </a:r>
            <a:r>
              <a:rPr lang="en-US" b="false" i="false" strike="noStrike" u="none" sz="1300">
                <a:solidFill>
                  <a:srgbClr val="1F2329"/>
                </a:solidFill>
                <a:latin typeface="Noto Sans SC"/>
                <a:ea typeface="Noto Sans SC"/>
                <a:cs typeface="Noto Sans SC"/>
                <a:sym typeface="Noto Sans SC"/>
              </a:rPr>
              <a:t/>
            </a:r>
          </a:p>
          <a:p>
            <a:pPr algn="l" indent="0">
              <a:lnSpc>
                <a:spcPct val="125000"/>
              </a:lnSpc>
            </a:pPr>
            <a:r>
              <a:rPr lang="en-US" b="true" i="false" strike="noStrike" u="none" sz="1300">
                <a:solidFill>
                  <a:srgbClr val="1F2937"/>
                </a:solidFill>
                <a:latin typeface="Noto Sans SC"/>
                <a:ea typeface="Noto Sans SC"/>
                <a:cs typeface="Noto Sans SC"/>
                <a:sym typeface="Noto Sans SC"/>
              </a:rPr>
              <a:t>支付集成：</a:t>
            </a:r>
            <a:r>
              <a:rPr lang="en-US" b="false" i="false" strike="noStrike" u="none" sz="1300">
                <a:solidFill>
                  <a:srgbClr val="4B5563"/>
                </a:solidFill>
                <a:latin typeface="Noto Sans SC"/>
                <a:ea typeface="Noto Sans SC"/>
                <a:cs typeface="Noto Sans SC"/>
                <a:sym typeface="Noto Sans SC"/>
              </a:rPr>
              <a:t>PayPal SDK</a:t>
            </a:r>
          </a:p>
        </p:txBody>
      </p:sp>
      <p:sp>
        <p:nvSpPr>
          <p:cNvPr name="AutoShape 8" id="8"/>
          <p:cNvSpPr/>
          <p:nvPr/>
        </p:nvSpPr>
        <p:spPr>
          <a:xfrm rot="0" flipH="false" flipV="false">
            <a:off x="4445000" y="1778000"/>
            <a:ext cx="3302000" cy="4445000"/>
          </a:xfrm>
          <a:prstGeom prst="roundRect">
            <a:avLst>
              <a:gd name="adj" fmla="val 4615"/>
            </a:avLst>
          </a:prstGeom>
          <a:solidFill>
            <a:srgbClr val="FFFFFF">
              <a:alpha val="100000"/>
            </a:srgbClr>
          </a:solidFill>
          <a:ln w="12700" cmpd="sng" cap="flat">
            <a:solidFill>
              <a:srgbClr val="E5E7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9" id="9"/>
          <p:cNvPicPr>
            <a:picLocks noChangeAspect="true"/>
          </p:cNvPicPr>
          <p:nvPr/>
        </p:nvPicPr>
        <p:blipFill>
          <a:blip r:embed="rId4"/>
          <a:srcRect l="6250" r="6250" t="0" b="0"/>
          <a:stretch>
            <a:fillRect/>
          </a:stretch>
        </p:blipFill>
        <p:spPr>
          <a:xfrm rot="0" flipH="false" flipV="false">
            <a:off x="5207000" y="2032000"/>
            <a:ext cx="1778000" cy="952500"/>
          </a:xfrm>
          <a:prstGeom prst="rect">
            <a:avLst/>
          </a:prstGeom>
          <a:noFill/>
          <a:ln w="25400" cmpd="sng" cap="flat">
            <a:noFill/>
            <a:prstDash val="solid"/>
            <a:round/>
          </a:ln>
        </p:spPr>
      </p:pic>
      <p:sp>
        <p:nvSpPr>
          <p:cNvPr name="AutoShape 10" id="10"/>
          <p:cNvSpPr/>
          <p:nvPr/>
        </p:nvSpPr>
        <p:spPr>
          <a:xfrm rot="0" flipH="false" flipV="false">
            <a:off x="4572000" y="3175000"/>
            <a:ext cx="3048000" cy="4445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000">
                <a:solidFill>
                  <a:srgbClr val="0A2540"/>
                </a:solidFill>
                <a:latin typeface="Noto Sans SC"/>
                <a:ea typeface="Noto Sans SC"/>
                <a:cs typeface="Noto Sans SC"/>
                <a:sym typeface="Noto Sans SC"/>
              </a:rPr>
              <a:t>管理后台技术栈</a:t>
            </a:r>
            <a:endParaRPr lang="en-US" sz="1100"/>
          </a:p>
        </p:txBody>
      </p:sp>
      <p:sp>
        <p:nvSpPr>
          <p:cNvPr name="AutoShape 11" id="11"/>
          <p:cNvSpPr/>
          <p:nvPr/>
        </p:nvSpPr>
        <p:spPr>
          <a:xfrm rot="0" flipH="false" flipV="false">
            <a:off x="4635500" y="3937000"/>
            <a:ext cx="2921000" cy="2032000"/>
          </a:xfrm>
          <a:prstGeom prst="roundRect">
            <a:avLst>
              <a:gd name="adj" fmla="val 5000"/>
            </a:avLst>
          </a:prstGeom>
          <a:solidFill>
            <a:srgbClr val="F0F5FF">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2" id="12"/>
          <p:cNvSpPr/>
          <p:nvPr/>
        </p:nvSpPr>
        <p:spPr>
          <a:xfrm rot="0" flipH="false" flipV="false">
            <a:off x="4762500" y="4254500"/>
            <a:ext cx="2667000" cy="1397000"/>
          </a:xfrm>
          <a:prstGeom prst="rect">
            <a:avLst/>
          </a:prstGeom>
          <a:noFill/>
          <a:ln w="12700" cmpd="sng" cap="flat">
            <a:noFill/>
            <a:prstDash val="solid"/>
            <a:round/>
          </a:ln>
        </p:spPr>
        <p:txBody>
          <a:bodyPr anchor="t" rtlCol="false" anchorCtr="false" vert="horz" wrap="square" lIns="0" rIns="0" tIns="0" bIns="0"/>
          <a:lstStyle/>
          <a:p>
            <a:pPr algn="l" indent="0">
              <a:lnSpc>
                <a:spcPct val="133333"/>
              </a:lnSpc>
              <a:defRPr/>
            </a:pPr>
            <a:r>
              <a:rPr lang="en-US" b="true" i="false" strike="noStrike" u="none" sz="1300">
                <a:solidFill>
                  <a:srgbClr val="1F2937"/>
                </a:solidFill>
                <a:latin typeface="Noto Sans SC"/>
                <a:ea typeface="Noto Sans SC"/>
                <a:cs typeface="Noto Sans SC"/>
                <a:sym typeface="Noto Sans SC"/>
              </a:rPr>
              <a:t>核心框架：</a:t>
            </a:r>
            <a:r>
              <a:rPr lang="en-US" b="false" i="false" strike="noStrike" u="none" sz="1300">
                <a:solidFill>
                  <a:srgbClr val="4B5563"/>
                </a:solidFill>
                <a:latin typeface="Noto Sans SC"/>
                <a:ea typeface="Noto Sans SC"/>
                <a:cs typeface="Noto Sans SC"/>
                <a:sym typeface="Noto Sans SC"/>
              </a:rPr>
              <a:t>Vue 3 + TypeScript + Vite</a:t>
            </a:r>
            <a:r>
              <a:rPr lang="en-US" b="false" i="false" strike="noStrike" u="none" sz="1300">
                <a:solidFill>
                  <a:srgbClr val="1F2329"/>
                </a:solidFill>
                <a:latin typeface="Noto Sans SC"/>
                <a:ea typeface="Noto Sans SC"/>
                <a:cs typeface="Noto Sans SC"/>
                <a:sym typeface="Noto Sans SC"/>
              </a:rPr>
              <a:t/>
            </a:r>
            <a:endParaRPr lang="en-US" sz="1100"/>
          </a:p>
          <a:p>
            <a:pPr algn="l" indent="0">
              <a:lnSpc>
                <a:spcPct val="133333"/>
              </a:lnSpc>
            </a:pPr>
            <a:r>
              <a:rPr lang="en-US" b="true" i="false" strike="noStrike" u="none" sz="1300">
                <a:solidFill>
                  <a:srgbClr val="1F2937"/>
                </a:solidFill>
                <a:latin typeface="Noto Sans SC"/>
                <a:ea typeface="Noto Sans SC"/>
                <a:cs typeface="Noto Sans SC"/>
                <a:sym typeface="Noto Sans SC"/>
              </a:rPr>
              <a:t>UI 组件库：</a:t>
            </a:r>
            <a:r>
              <a:rPr lang="en-US" b="false" i="false" strike="noStrike" u="none" sz="1300">
                <a:solidFill>
                  <a:srgbClr val="4B5563"/>
                </a:solidFill>
                <a:latin typeface="Noto Sans SC"/>
                <a:ea typeface="Noto Sans SC"/>
                <a:cs typeface="Noto Sans SC"/>
                <a:sym typeface="Noto Sans SC"/>
              </a:rPr>
              <a:t>Ant Design Vue</a:t>
            </a:r>
          </a:p>
        </p:txBody>
      </p:sp>
      <p:sp>
        <p:nvSpPr>
          <p:cNvPr name="AutoShape 13" id="13"/>
          <p:cNvSpPr/>
          <p:nvPr/>
        </p:nvSpPr>
        <p:spPr>
          <a:xfrm rot="0" flipH="false" flipV="false">
            <a:off x="8128000" y="1778000"/>
            <a:ext cx="3302000" cy="4445000"/>
          </a:xfrm>
          <a:prstGeom prst="roundRect">
            <a:avLst>
              <a:gd name="adj" fmla="val 4615"/>
            </a:avLst>
          </a:prstGeom>
          <a:solidFill>
            <a:srgbClr val="FFFFFF">
              <a:alpha val="100000"/>
            </a:srgbClr>
          </a:solidFill>
          <a:ln w="12700" cmpd="sng" cap="flat">
            <a:solidFill>
              <a:srgbClr val="E5E7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14" id="14"/>
          <p:cNvPicPr>
            <a:picLocks noChangeAspect="true"/>
          </p:cNvPicPr>
          <p:nvPr/>
        </p:nvPicPr>
        <p:blipFill>
          <a:blip r:embed="rId5"/>
          <a:srcRect l="0" r="0" t="5357" b="5357"/>
          <a:stretch>
            <a:fillRect/>
          </a:stretch>
        </p:blipFill>
        <p:spPr>
          <a:xfrm rot="0" flipH="false" flipV="false">
            <a:off x="8890000" y="2032000"/>
            <a:ext cx="1778000" cy="952500"/>
          </a:xfrm>
          <a:prstGeom prst="rect">
            <a:avLst/>
          </a:prstGeom>
          <a:noFill/>
          <a:ln w="25400" cmpd="sng" cap="flat">
            <a:noFill/>
            <a:prstDash val="solid"/>
            <a:round/>
          </a:ln>
        </p:spPr>
      </p:pic>
      <p:sp>
        <p:nvSpPr>
          <p:cNvPr name="AutoShape 15" id="15"/>
          <p:cNvSpPr/>
          <p:nvPr/>
        </p:nvSpPr>
        <p:spPr>
          <a:xfrm rot="0" flipH="false" flipV="false">
            <a:off x="8255000" y="3175000"/>
            <a:ext cx="3048000" cy="4445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000">
                <a:solidFill>
                  <a:srgbClr val="0A2540"/>
                </a:solidFill>
                <a:latin typeface="Noto Sans SC"/>
                <a:ea typeface="Noto Sans SC"/>
                <a:cs typeface="Noto Sans SC"/>
                <a:sym typeface="Noto Sans SC"/>
              </a:rPr>
              <a:t>前台商城技术栈</a:t>
            </a:r>
            <a:endParaRPr lang="en-US" sz="1100"/>
          </a:p>
        </p:txBody>
      </p:sp>
      <p:sp>
        <p:nvSpPr>
          <p:cNvPr name="AutoShape 16" id="16"/>
          <p:cNvSpPr/>
          <p:nvPr/>
        </p:nvSpPr>
        <p:spPr>
          <a:xfrm rot="0" flipH="false" flipV="false">
            <a:off x="8318500" y="3937000"/>
            <a:ext cx="2921000" cy="2032000"/>
          </a:xfrm>
          <a:prstGeom prst="roundRect">
            <a:avLst>
              <a:gd name="adj" fmla="val 5000"/>
            </a:avLst>
          </a:prstGeom>
          <a:solidFill>
            <a:srgbClr val="F0F5FF">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7" id="17"/>
          <p:cNvSpPr/>
          <p:nvPr/>
        </p:nvSpPr>
        <p:spPr>
          <a:xfrm rot="0" flipH="false" flipV="false">
            <a:off x="8445500" y="4127500"/>
            <a:ext cx="2667000" cy="1651000"/>
          </a:xfrm>
          <a:prstGeom prst="rect">
            <a:avLst/>
          </a:prstGeom>
          <a:noFill/>
          <a:ln w="12700" cmpd="sng" cap="flat">
            <a:noFill/>
            <a:prstDash val="solid"/>
            <a:round/>
          </a:ln>
        </p:spPr>
        <p:txBody>
          <a:bodyPr anchor="t" rtlCol="false" anchorCtr="false" vert="horz" wrap="square" lIns="0" rIns="0" tIns="0" bIns="0"/>
          <a:lstStyle/>
          <a:p>
            <a:pPr algn="l" indent="0">
              <a:lnSpc>
                <a:spcPct val="125000"/>
              </a:lnSpc>
              <a:defRPr/>
            </a:pPr>
            <a:r>
              <a:rPr lang="en-US" b="true" i="false" strike="noStrike" u="none" sz="1300">
                <a:solidFill>
                  <a:srgbClr val="1F2937"/>
                </a:solidFill>
                <a:latin typeface="Noto Sans SC"/>
                <a:ea typeface="Noto Sans SC"/>
                <a:cs typeface="Noto Sans SC"/>
                <a:sym typeface="Noto Sans SC"/>
              </a:rPr>
              <a:t>SSR 框架：</a:t>
            </a:r>
            <a:r>
              <a:rPr lang="en-US" b="false" i="false" strike="noStrike" u="none" sz="1300">
                <a:solidFill>
                  <a:srgbClr val="4B5563"/>
                </a:solidFill>
                <a:latin typeface="Noto Sans SC"/>
                <a:ea typeface="Noto Sans SC"/>
                <a:cs typeface="Noto Sans SC"/>
                <a:sym typeface="Noto Sans SC"/>
              </a:rPr>
              <a:t>Nuxt 4 + Vue 3 + TS</a:t>
            </a:r>
            <a:r>
              <a:rPr lang="en-US" b="false" i="false" strike="noStrike" u="none" sz="1300">
                <a:solidFill>
                  <a:srgbClr val="1F2329"/>
                </a:solidFill>
                <a:latin typeface="Noto Sans SC"/>
                <a:ea typeface="Noto Sans SC"/>
                <a:cs typeface="Noto Sans SC"/>
                <a:sym typeface="Noto Sans SC"/>
              </a:rPr>
              <a:t/>
            </a:r>
            <a:endParaRPr lang="en-US" sz="1100"/>
          </a:p>
          <a:p>
            <a:pPr algn="l" indent="0">
              <a:lnSpc>
                <a:spcPct val="125000"/>
              </a:lnSpc>
            </a:pPr>
            <a:r>
              <a:rPr lang="en-US" b="true" i="false" strike="noStrike" u="none" sz="1300">
                <a:solidFill>
                  <a:srgbClr val="1F2937"/>
                </a:solidFill>
                <a:latin typeface="Noto Sans SC"/>
                <a:ea typeface="Noto Sans SC"/>
                <a:cs typeface="Noto Sans SC"/>
                <a:sym typeface="Noto Sans SC"/>
              </a:rPr>
              <a:t>组件与样式：</a:t>
            </a:r>
            <a:r>
              <a:rPr lang="en-US" b="false" i="false" strike="noStrike" u="none" sz="1300">
                <a:solidFill>
                  <a:srgbClr val="4B5563"/>
                </a:solidFill>
                <a:latin typeface="Noto Sans SC"/>
                <a:ea typeface="Noto Sans SC"/>
                <a:cs typeface="Noto Sans SC"/>
                <a:sym typeface="Noto Sans SC"/>
              </a:rPr>
              <a:t>Nuxt UI, Tailwind CSS</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0A2540"/>
                </a:solidFill>
                <a:latin typeface="Noto Sans SC"/>
                <a:ea typeface="Noto Sans SC"/>
                <a:cs typeface="Noto Sans SC"/>
                <a:sym typeface="Noto Sans SC"/>
              </a:rPr>
              <a:t>02 论文框架与重点 - 研究成果 (功能)</a:t>
            </a:r>
            <a:endParaRPr lang="en-US" sz="1100"/>
          </a:p>
        </p:txBody>
      </p:sp>
      <p:sp>
        <p:nvSpPr>
          <p:cNvPr name="AutoShape 3" id="3"/>
          <p:cNvSpPr/>
          <p:nvPr/>
        </p:nvSpPr>
        <p:spPr>
          <a:xfrm rot="0" flipH="false" flipV="false">
            <a:off x="762000" y="1651000"/>
            <a:ext cx="5207000" cy="4699000"/>
          </a:xfrm>
          <a:prstGeom prst="roundRect">
            <a:avLst>
              <a:gd name="adj" fmla="val 3243"/>
            </a:avLst>
          </a:prstGeom>
          <a:solidFill>
            <a:srgbClr val="FFFFFF">
              <a:alpha val="100000"/>
            </a:srgbClr>
          </a:solidFill>
          <a:ln w="12700" cmpd="sng" cap="flat">
            <a:solidFill>
              <a:srgbClr val="E5E7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4" id="4"/>
          <p:cNvPicPr>
            <a:picLocks noChangeAspect="true"/>
          </p:cNvPicPr>
          <p:nvPr/>
        </p:nvPicPr>
        <p:blipFill>
          <a:blip r:embed="rId3"/>
          <a:srcRect l="0" r="0" t="18120" b="18120"/>
          <a:stretch>
            <a:fillRect/>
          </a:stretch>
        </p:blipFill>
        <p:spPr>
          <a:xfrm rot="0" flipH="false" flipV="false">
            <a:off x="1016000" y="1905000"/>
            <a:ext cx="4699000" cy="2032000"/>
          </a:xfrm>
          <a:prstGeom prst="roundRect">
            <a:avLst>
              <a:gd name="adj" fmla="val 5000"/>
            </a:avLst>
          </a:prstGeom>
          <a:noFill/>
          <a:ln w="25400" cmpd="sng" cap="flat">
            <a:noFill/>
            <a:prstDash val="solid"/>
            <a:round/>
          </a:ln>
        </p:spPr>
      </p:pic>
      <p:sp>
        <p:nvSpPr>
          <p:cNvPr name="AutoShape 5" id="5"/>
          <p:cNvSpPr/>
          <p:nvPr/>
        </p:nvSpPr>
        <p:spPr>
          <a:xfrm rot="0" flipH="false" flipV="false">
            <a:off x="1016000" y="4191000"/>
            <a:ext cx="4699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0A2540"/>
                </a:solidFill>
                <a:latin typeface="Noto Sans SC"/>
                <a:ea typeface="Noto Sans SC"/>
                <a:cs typeface="Noto Sans SC"/>
                <a:sym typeface="Noto Sans SC"/>
              </a:rPr>
              <a:t>管理后台 (shop_admin)</a:t>
            </a:r>
            <a:endParaRPr lang="en-US" sz="1100"/>
          </a:p>
        </p:txBody>
      </p:sp>
      <p:sp>
        <p:nvSpPr>
          <p:cNvPr name="AutoShape 6" id="6"/>
          <p:cNvSpPr/>
          <p:nvPr/>
        </p:nvSpPr>
        <p:spPr>
          <a:xfrm rot="0" flipH="false" flipV="false">
            <a:off x="1016000" y="4826000"/>
            <a:ext cx="4699000" cy="1397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true" i="false" strike="noStrike" u="none" sz="1400">
                <a:solidFill>
                  <a:srgbClr val="165DFF"/>
                </a:solidFill>
                <a:latin typeface="Noto Sans SC"/>
                <a:ea typeface="Noto Sans SC"/>
                <a:cs typeface="Noto Sans SC"/>
                <a:sym typeface="Noto Sans SC"/>
              </a:rPr>
              <a:t>▌ 核心功能：</a:t>
            </a:r>
            <a:r>
              <a:rPr lang="en-US" b="false" i="false" strike="noStrike" u="none" sz="1300">
                <a:solidFill>
                  <a:srgbClr val="374151"/>
                </a:solidFill>
                <a:latin typeface="Noto Sans SC"/>
                <a:ea typeface="Noto Sans SC"/>
                <a:cs typeface="Noto Sans SC"/>
                <a:sym typeface="Noto Sans SC"/>
              </a:rPr>
              <a:t>仪表板、商品管理、订单管理、内容管理(CMS)、站点管理、系统管理。</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16666"/>
              </a:lnSpc>
            </a:pPr>
            <a:r>
              <a:rPr lang="en-US" b="true" i="false" strike="noStrike" u="none" sz="1400">
                <a:solidFill>
                  <a:srgbClr val="165DFF"/>
                </a:solidFill>
                <a:latin typeface="Noto Sans SC"/>
                <a:ea typeface="Noto Sans SC"/>
                <a:cs typeface="Noto Sans SC"/>
                <a:sym typeface="Noto Sans SC"/>
              </a:rPr>
              <a:t>▌ 价值：</a:t>
            </a:r>
            <a:r>
              <a:rPr lang="en-US" b="false" i="false" strike="noStrike" u="none" sz="1300">
                <a:solidFill>
                  <a:srgbClr val="374151"/>
                </a:solidFill>
                <a:latin typeface="Noto Sans SC"/>
                <a:ea typeface="Noto Sans SC"/>
                <a:cs typeface="Noto Sans SC"/>
                <a:sym typeface="Noto Sans SC"/>
              </a:rPr>
              <a:t>为运营人员提供全面的后台支持，实现对商城的精细化管理，提升业务运营效率。</a:t>
            </a:r>
          </a:p>
        </p:txBody>
      </p:sp>
      <p:sp>
        <p:nvSpPr>
          <p:cNvPr name="AutoShape 7" id="7"/>
          <p:cNvSpPr/>
          <p:nvPr/>
        </p:nvSpPr>
        <p:spPr>
          <a:xfrm rot="0" flipH="false" flipV="false">
            <a:off x="6223000" y="1651000"/>
            <a:ext cx="5207000" cy="4699000"/>
          </a:xfrm>
          <a:prstGeom prst="roundRect">
            <a:avLst>
              <a:gd name="adj" fmla="val 3243"/>
            </a:avLst>
          </a:prstGeom>
          <a:solidFill>
            <a:srgbClr val="FFFFFF">
              <a:alpha val="100000"/>
            </a:srgbClr>
          </a:solidFill>
          <a:ln w="12700" cmpd="sng" cap="flat">
            <a:solidFill>
              <a:srgbClr val="E5E7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8" id="8"/>
          <p:cNvPicPr>
            <a:picLocks noChangeAspect="true"/>
          </p:cNvPicPr>
          <p:nvPr/>
        </p:nvPicPr>
        <p:blipFill>
          <a:blip r:embed="rId4"/>
          <a:srcRect l="0" r="0" t="21171" b="21171"/>
          <a:stretch>
            <a:fillRect/>
          </a:stretch>
        </p:blipFill>
        <p:spPr>
          <a:xfrm rot="0" flipH="false" flipV="false">
            <a:off x="6477000" y="1905000"/>
            <a:ext cx="4699000" cy="2032000"/>
          </a:xfrm>
          <a:prstGeom prst="roundRect">
            <a:avLst>
              <a:gd name="adj" fmla="val 5000"/>
            </a:avLst>
          </a:prstGeom>
          <a:noFill/>
          <a:ln w="25400" cmpd="sng" cap="flat">
            <a:noFill/>
            <a:prstDash val="solid"/>
            <a:round/>
          </a:ln>
        </p:spPr>
      </p:pic>
      <p:sp>
        <p:nvSpPr>
          <p:cNvPr name="AutoShape 9" id="9"/>
          <p:cNvSpPr/>
          <p:nvPr/>
        </p:nvSpPr>
        <p:spPr>
          <a:xfrm rot="0" flipH="false" flipV="false">
            <a:off x="6477000" y="4191000"/>
            <a:ext cx="4699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0A2540"/>
                </a:solidFill>
                <a:latin typeface="Noto Sans SC"/>
                <a:ea typeface="Noto Sans SC"/>
                <a:cs typeface="Noto Sans SC"/>
                <a:sym typeface="Noto Sans SC"/>
              </a:rPr>
              <a:t>前台商城 (zhuyi-store)</a:t>
            </a:r>
            <a:endParaRPr lang="en-US" sz="1100"/>
          </a:p>
        </p:txBody>
      </p:sp>
      <p:sp>
        <p:nvSpPr>
          <p:cNvPr name="AutoShape 10" id="10"/>
          <p:cNvSpPr/>
          <p:nvPr/>
        </p:nvSpPr>
        <p:spPr>
          <a:xfrm rot="0" flipH="false" flipV="false">
            <a:off x="6477000" y="4826000"/>
            <a:ext cx="4699000" cy="1397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true" i="false" strike="noStrike" u="none" sz="1400">
                <a:solidFill>
                  <a:srgbClr val="165DFF"/>
                </a:solidFill>
                <a:latin typeface="Noto Sans SC"/>
                <a:ea typeface="Noto Sans SC"/>
                <a:cs typeface="Noto Sans SC"/>
                <a:sym typeface="Noto Sans SC"/>
              </a:rPr>
              <a:t>▌ 核心功能：</a:t>
            </a:r>
            <a:r>
              <a:rPr lang="en-US" b="false" i="false" strike="noStrike" u="none" sz="1300">
                <a:solidFill>
                  <a:srgbClr val="374151"/>
                </a:solidFill>
                <a:latin typeface="Noto Sans SC"/>
                <a:ea typeface="Noto Sans SC"/>
                <a:cs typeface="Noto Sans SC"/>
                <a:sym typeface="Noto Sans SC"/>
              </a:rPr>
              <a:t>商品分类浏览、购物车管理、结算流程与PayPal支付集成、订单查询、个人中心。</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16666"/>
              </a:lnSpc>
            </a:pPr>
            <a:r>
              <a:rPr lang="en-US" b="true" i="false" strike="noStrike" u="none" sz="1400">
                <a:solidFill>
                  <a:srgbClr val="165DFF"/>
                </a:solidFill>
                <a:latin typeface="Noto Sans SC"/>
                <a:ea typeface="Noto Sans SC"/>
                <a:cs typeface="Noto Sans SC"/>
                <a:sym typeface="Noto Sans SC"/>
              </a:rPr>
              <a:t>▌ 价值：</a:t>
            </a:r>
            <a:r>
              <a:rPr lang="en-US" b="false" i="false" strike="noStrike" u="none" sz="1300">
                <a:solidFill>
                  <a:srgbClr val="374151"/>
                </a:solidFill>
                <a:latin typeface="Noto Sans SC"/>
                <a:ea typeface="Noto Sans SC"/>
                <a:cs typeface="Noto Sans SC"/>
                <a:sym typeface="Noto Sans SC"/>
              </a:rPr>
              <a:t>为消费者提供完整、流畅的购物体验，支持“游客”和“登录用户”双模式，降低获客门槛。</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6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0A2540"/>
                </a:solidFill>
                <a:latin typeface="Noto Sans SC"/>
                <a:ea typeface="Noto Sans SC"/>
                <a:cs typeface="Noto Sans SC"/>
                <a:sym typeface="Noto Sans SC"/>
              </a:rPr>
              <a:t>02 论文框架与重点 - 研究成果 (展示)</a:t>
            </a:r>
            <a:endParaRPr lang="en-US" sz="1100"/>
          </a:p>
        </p:txBody>
      </p:sp>
      <p:sp>
        <p:nvSpPr>
          <p:cNvPr name="AutoShape 4" id="4"/>
          <p:cNvSpPr/>
          <p:nvPr/>
        </p:nvSpPr>
        <p:spPr>
          <a:xfrm rot="0" flipH="false" flipV="false">
            <a:off x="762000" y="1524000"/>
            <a:ext cx="5207000" cy="2286000"/>
          </a:xfrm>
          <a:prstGeom prst="roundRect">
            <a:avLst>
              <a:gd name="adj" fmla="val 4444"/>
            </a:avLst>
          </a:prstGeom>
          <a:solidFill>
            <a:srgbClr val="FFFFFF">
              <a:alpha val="95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3"/>
          <a:srcRect l="23333" r="23333" t="0" b="0"/>
          <a:stretch>
            <a:fillRect/>
          </a:stretch>
        </p:blipFill>
        <p:spPr>
          <a:xfrm rot="0" flipH="false" flipV="false">
            <a:off x="952500" y="1714500"/>
            <a:ext cx="2032000" cy="1905000"/>
          </a:xfrm>
          <a:prstGeom prst="rect">
            <a:avLst/>
          </a:prstGeom>
          <a:noFill/>
          <a:ln w="12700" cmpd="sng" cap="flat">
            <a:solidFill>
              <a:srgbClr val="E5E7EB">
                <a:alpha val="100000"/>
              </a:srgbClr>
            </a:solidFill>
            <a:prstDash val="solid"/>
            <a:round/>
          </a:ln>
        </p:spPr>
      </p:pic>
      <p:sp>
        <p:nvSpPr>
          <p:cNvPr name="AutoShape 6" id="6"/>
          <p:cNvSpPr/>
          <p:nvPr/>
        </p:nvSpPr>
        <p:spPr>
          <a:xfrm rot="0" flipH="false" flipV="false">
            <a:off x="3175000" y="1714500"/>
            <a:ext cx="2603500" cy="1905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800">
                <a:solidFill>
                  <a:srgbClr val="0A2540"/>
                </a:solidFill>
                <a:latin typeface="Noto Sans SC"/>
                <a:ea typeface="Noto Sans SC"/>
                <a:cs typeface="Noto Sans SC"/>
                <a:sym typeface="Noto Sans SC"/>
              </a:rPr>
              <a:t>系统总体架构图</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16666"/>
              </a:lnSpc>
              <a:spcBef>
                <a:spcPts val="800"/>
              </a:spcBef>
            </a:pPr>
            <a:r>
              <a:rPr lang="en-US" b="false" i="false" strike="noStrike" u="none" sz="1300">
                <a:solidFill>
                  <a:srgbClr val="475569"/>
                </a:solidFill>
                <a:latin typeface="Noto Sans SC"/>
                <a:ea typeface="Noto Sans SC"/>
                <a:cs typeface="Noto Sans SC"/>
                <a:sym typeface="Noto Sans SC"/>
              </a:rPr>
              <a:t>清晰展示了系统的三个核心子系统层级与交互关系，明确界定了各功能模块的职责边界与调用逻辑，构建了稳固的系统骨架。</a:t>
            </a:r>
          </a:p>
        </p:txBody>
      </p:sp>
      <p:sp>
        <p:nvSpPr>
          <p:cNvPr name="AutoShape 7" id="7"/>
          <p:cNvSpPr/>
          <p:nvPr/>
        </p:nvSpPr>
        <p:spPr>
          <a:xfrm rot="0" flipH="false" flipV="false">
            <a:off x="6223000" y="1524000"/>
            <a:ext cx="5207000" cy="2286000"/>
          </a:xfrm>
          <a:prstGeom prst="roundRect">
            <a:avLst>
              <a:gd name="adj" fmla="val 4444"/>
            </a:avLst>
          </a:prstGeom>
          <a:solidFill>
            <a:srgbClr val="FFFFFF">
              <a:alpha val="95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8" id="8"/>
          <p:cNvPicPr>
            <a:picLocks noChangeAspect="true"/>
          </p:cNvPicPr>
          <p:nvPr/>
        </p:nvPicPr>
        <p:blipFill>
          <a:blip r:embed="rId4"/>
          <a:srcRect l="23333" r="23333" t="0" b="0"/>
          <a:stretch>
            <a:fillRect/>
          </a:stretch>
        </p:blipFill>
        <p:spPr>
          <a:xfrm rot="0" flipH="false" flipV="false">
            <a:off x="6413500" y="1714500"/>
            <a:ext cx="2032000" cy="1905000"/>
          </a:xfrm>
          <a:prstGeom prst="rect">
            <a:avLst/>
          </a:prstGeom>
          <a:noFill/>
          <a:ln w="12700" cmpd="sng" cap="flat">
            <a:solidFill>
              <a:srgbClr val="E5E7EB">
                <a:alpha val="100000"/>
              </a:srgbClr>
            </a:solidFill>
            <a:prstDash val="solid"/>
            <a:round/>
          </a:ln>
        </p:spPr>
      </p:pic>
      <p:sp>
        <p:nvSpPr>
          <p:cNvPr name="AutoShape 9" id="9"/>
          <p:cNvSpPr/>
          <p:nvPr/>
        </p:nvSpPr>
        <p:spPr>
          <a:xfrm rot="0" flipH="false" flipV="false">
            <a:off x="8636000" y="1714500"/>
            <a:ext cx="2603500" cy="1905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800">
                <a:solidFill>
                  <a:srgbClr val="0A2540"/>
                </a:solidFill>
                <a:latin typeface="Noto Sans SC"/>
                <a:ea typeface="Noto Sans SC"/>
                <a:cs typeface="Noto Sans SC"/>
                <a:sym typeface="Noto Sans SC"/>
              </a:rPr>
              <a:t>系统顶层数据流图</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16666"/>
              </a:lnSpc>
              <a:spcBef>
                <a:spcPts val="800"/>
              </a:spcBef>
            </a:pPr>
            <a:r>
              <a:rPr lang="en-US" b="false" i="false" strike="noStrike" u="none" sz="1300">
                <a:solidFill>
                  <a:srgbClr val="475569"/>
                </a:solidFill>
                <a:latin typeface="Noto Sans SC"/>
                <a:ea typeface="Noto Sans SC"/>
                <a:cs typeface="Noto Sans SC"/>
                <a:sym typeface="Noto Sans SC"/>
              </a:rPr>
              <a:t>精准描绘了外部用户、第三方接口与系统内部核心处理单元间的数据流转路径，清晰解析了系统的输入、处理与输出全过程。</a:t>
            </a:r>
          </a:p>
        </p:txBody>
      </p:sp>
      <p:sp>
        <p:nvSpPr>
          <p:cNvPr name="AutoShape 10" id="10"/>
          <p:cNvSpPr/>
          <p:nvPr/>
        </p:nvSpPr>
        <p:spPr>
          <a:xfrm rot="0" flipH="false" flipV="false">
            <a:off x="762000" y="4064000"/>
            <a:ext cx="10668000" cy="2413000"/>
          </a:xfrm>
          <a:prstGeom prst="roundRect">
            <a:avLst>
              <a:gd name="adj" fmla="val 4210"/>
            </a:avLst>
          </a:prstGeom>
          <a:solidFill>
            <a:srgbClr val="FFFFFF">
              <a:alpha val="95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5"/>
          <a:srcRect l="9375" r="9375" t="0" b="0"/>
          <a:stretch>
            <a:fillRect/>
          </a:stretch>
        </p:blipFill>
        <p:spPr>
          <a:xfrm rot="0" flipH="false" flipV="false">
            <a:off x="952500" y="4254500"/>
            <a:ext cx="3302000" cy="2032000"/>
          </a:xfrm>
          <a:prstGeom prst="rect">
            <a:avLst/>
          </a:prstGeom>
          <a:noFill/>
          <a:ln w="12700" cmpd="sng" cap="flat">
            <a:solidFill>
              <a:srgbClr val="E5E7EB">
                <a:alpha val="100000"/>
              </a:srgbClr>
            </a:solidFill>
            <a:prstDash val="solid"/>
            <a:round/>
          </a:ln>
        </p:spPr>
      </p:pic>
      <p:sp>
        <p:nvSpPr>
          <p:cNvPr name="AutoShape 12" id="12"/>
          <p:cNvSpPr/>
          <p:nvPr/>
        </p:nvSpPr>
        <p:spPr>
          <a:xfrm rot="0" flipH="false" flipV="false">
            <a:off x="4572000" y="4254500"/>
            <a:ext cx="6540500" cy="2032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800">
                <a:solidFill>
                  <a:srgbClr val="0A2540"/>
                </a:solidFill>
                <a:latin typeface="Noto Sans SC"/>
                <a:ea typeface="Noto Sans SC"/>
                <a:cs typeface="Noto Sans SC"/>
                <a:sym typeface="Noto Sans SC"/>
              </a:rPr>
              <a:t>前台用户购物业务流程</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spcBef>
                <a:spcPts val="1000"/>
              </a:spcBef>
            </a:pPr>
            <a:r>
              <a:rPr lang="en-US" b="false" i="false" strike="noStrike" u="none" sz="1300">
                <a:solidFill>
                  <a:srgbClr val="475569"/>
                </a:solidFill>
                <a:latin typeface="Noto Sans SC"/>
                <a:ea typeface="Noto Sans SC"/>
                <a:cs typeface="Noto Sans SC"/>
                <a:sym typeface="Noto Sans SC"/>
              </a:rPr>
              <a:t>直观呈现了从用户注册登录、商品检索浏览、加购、结算到最终支付成功的端到端全链路操作路径。该流程充分考量了用户体验的流畅性与业务闭环的完整性，精准匹配了目标用户的核心购物诉求，同时确保了交易数据的准确性与安全性。</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0A2540"/>
                </a:solidFill>
                <a:latin typeface="Noto Sans SC"/>
                <a:ea typeface="Noto Sans SC"/>
                <a:cs typeface="Noto Sans SC"/>
                <a:sym typeface="Noto Sans SC"/>
              </a:rPr>
              <a:t>03 总结与展望</a:t>
            </a:r>
            <a:endParaRPr lang="en-US" sz="1100"/>
          </a:p>
        </p:txBody>
      </p:sp>
      <p:sp>
        <p:nvSpPr>
          <p:cNvPr name="AutoShape 3" id="3"/>
          <p:cNvSpPr/>
          <p:nvPr/>
        </p:nvSpPr>
        <p:spPr>
          <a:xfrm rot="0" flipH="false" flipV="false">
            <a:off x="762000" y="1651000"/>
            <a:ext cx="3302000" cy="4572000"/>
          </a:xfrm>
          <a:prstGeom prst="roundRect">
            <a:avLst>
              <a:gd name="adj" fmla="val 4615"/>
            </a:avLst>
          </a:prstGeom>
          <a:solidFill>
            <a:srgbClr val="FFFFFF">
              <a:alpha val="95000"/>
            </a:srgbClr>
          </a:solidFill>
          <a:ln w="12700" cmpd="sng" cap="flat">
            <a:solidFill>
              <a:srgbClr val="E5E7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1651000"/>
            <a:ext cx="3302000" cy="76200"/>
          </a:xfrm>
          <a:prstGeom prst="roundRect">
            <a:avLst>
              <a:gd name="adj" fmla="val 0"/>
            </a:avLst>
          </a:prstGeom>
          <a:solidFill>
            <a:srgbClr val="0A2540">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2095500"/>
            <a:ext cx="355600" cy="355600"/>
          </a:xfrm>
          <a:prstGeom prst="rect">
            <a:avLst/>
          </a:prstGeom>
        </p:spPr>
      </p:pic>
      <p:sp>
        <p:nvSpPr>
          <p:cNvPr name="AutoShape 6" id="6"/>
          <p:cNvSpPr/>
          <p:nvPr/>
        </p:nvSpPr>
        <p:spPr>
          <a:xfrm rot="0" flipH="false" flipV="false">
            <a:off x="1524000" y="2057400"/>
            <a:ext cx="2286000" cy="4445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0A2540"/>
                </a:solidFill>
                <a:latin typeface="Noto Sans SC"/>
                <a:ea typeface="Noto Sans SC"/>
                <a:cs typeface="Noto Sans SC"/>
                <a:sym typeface="Noto Sans SC"/>
              </a:rPr>
              <a:t>工作总结</a:t>
            </a:r>
            <a:endParaRPr lang="en-US" sz="1100"/>
          </a:p>
        </p:txBody>
      </p:sp>
      <p:sp>
        <p:nvSpPr>
          <p:cNvPr name="AutoShape 7" id="7"/>
          <p:cNvSpPr/>
          <p:nvPr/>
        </p:nvSpPr>
        <p:spPr>
          <a:xfrm rot="0" flipH="false" flipV="false">
            <a:off x="1016000" y="2921000"/>
            <a:ext cx="2794000" cy="2921000"/>
          </a:xfrm>
          <a:prstGeom prst="rect">
            <a:avLst/>
          </a:prstGeom>
          <a:noFill/>
          <a:ln w="12700" cmpd="sng" cap="flat">
            <a:noFill/>
            <a:prstDash val="solid"/>
            <a:round/>
          </a:ln>
        </p:spPr>
        <p:txBody>
          <a:bodyPr anchor="ctr" rtlCol="false" anchorCtr="false" vert="horz" wrap="square" lIns="0" rIns="0" tIns="0" bIns="0"/>
          <a:lstStyle/>
          <a:p>
            <a:pPr algn="l" indent="0">
              <a:lnSpc>
                <a:spcPct val="133333"/>
              </a:lnSpc>
              <a:spcBef>
                <a:spcPts val="800"/>
              </a:spcBef>
              <a:defRPr/>
            </a:pPr>
            <a:r>
              <a:rPr lang="en-US" b="false" i="false" strike="noStrike" u="none" sz="1300">
                <a:solidFill>
                  <a:srgbClr val="374151"/>
                </a:solidFill>
                <a:latin typeface="Noto Sans SC"/>
                <a:ea typeface="Noto Sans SC"/>
                <a:cs typeface="Noto Sans SC"/>
                <a:sym typeface="Noto Sans SC"/>
              </a:rPr>
              <a:t>• 成功设计并实现了一套基于</a:t>
            </a:r>
            <a:r>
              <a:rPr lang="en-US" b="true" i="false" strike="noStrike" u="none" sz="1300">
                <a:solidFill>
                  <a:srgbClr val="0A2540"/>
                </a:solidFill>
                <a:latin typeface="Noto Sans SC"/>
                <a:ea typeface="Noto Sans SC"/>
                <a:cs typeface="Noto Sans SC"/>
                <a:sym typeface="Noto Sans SC"/>
              </a:rPr>
              <a:t>Gin 与 Nuxt.js</a:t>
            </a:r>
            <a:r>
              <a:rPr lang="en-US" b="false" i="false" strike="noStrike" u="none" sz="1300">
                <a:solidFill>
                  <a:srgbClr val="374151"/>
                </a:solidFill>
                <a:latin typeface="Noto Sans SC"/>
                <a:ea typeface="Noto Sans SC"/>
                <a:cs typeface="Noto Sans SC"/>
                <a:sym typeface="Noto Sans SC"/>
              </a:rPr>
              <a:t>的跨境电商独立站系统。</a:t>
            </a:r>
            <a:r>
              <a:rPr lang="en-US" b="false" i="false" strike="noStrike" u="none" sz="1300">
                <a:solidFill>
                  <a:srgbClr val="1F2329"/>
                </a:solidFill>
                <a:latin typeface="Noto Sans SC"/>
                <a:ea typeface="Noto Sans SC"/>
                <a:cs typeface="Noto Sans SC"/>
                <a:sym typeface="Noto Sans SC"/>
              </a:rPr>
              <a:t/>
            </a:r>
            <a:endParaRPr lang="en-US" sz="1100"/>
          </a:p>
          <a:p>
            <a:pPr algn="l" indent="0">
              <a:lnSpc>
                <a:spcPct val="133333"/>
              </a:lnSpc>
              <a:spcBef>
                <a:spcPts val="1200"/>
              </a:spcBef>
            </a:pPr>
            <a:r>
              <a:rPr lang="en-US" b="false" i="false" strike="noStrike" u="none" sz="1300">
                <a:solidFill>
                  <a:srgbClr val="374151"/>
                </a:solidFill>
                <a:latin typeface="Noto Sans SC"/>
                <a:ea typeface="Noto Sans SC"/>
                <a:cs typeface="Noto Sans SC"/>
                <a:sym typeface="Noto Sans SC"/>
              </a:rPr>
              <a:t>• 采用前后端分离架构，后端实现清晰分层，前端构建了功能完善的管理后台和体验良好的前台商城。</a:t>
            </a:r>
            <a:r>
              <a:rPr lang="en-US" b="false" i="false" strike="noStrike" u="none" sz="1300">
                <a:solidFill>
                  <a:srgbClr val="1F2329"/>
                </a:solidFill>
                <a:latin typeface="Noto Sans SC"/>
                <a:ea typeface="Noto Sans SC"/>
                <a:cs typeface="Noto Sans SC"/>
                <a:sym typeface="Noto Sans SC"/>
              </a:rPr>
              <a:t/>
            </a:r>
          </a:p>
          <a:p>
            <a:pPr algn="l" indent="0">
              <a:lnSpc>
                <a:spcPct val="133333"/>
              </a:lnSpc>
              <a:spcBef>
                <a:spcPts val="1200"/>
              </a:spcBef>
            </a:pPr>
            <a:r>
              <a:rPr lang="en-US" b="false" i="false" strike="noStrike" u="none" sz="1300">
                <a:solidFill>
                  <a:srgbClr val="374151"/>
                </a:solidFill>
                <a:latin typeface="Noto Sans SC"/>
                <a:ea typeface="Noto Sans SC"/>
                <a:cs typeface="Noto Sans SC"/>
                <a:sym typeface="Noto Sans SC"/>
              </a:rPr>
              <a:t>• 完整经历并完成了从需求分析到系统实现与测试的全流程软件工程实践。</a:t>
            </a:r>
          </a:p>
        </p:txBody>
      </p:sp>
      <p:sp>
        <p:nvSpPr>
          <p:cNvPr name="AutoShape 8" id="8"/>
          <p:cNvSpPr/>
          <p:nvPr/>
        </p:nvSpPr>
        <p:spPr>
          <a:xfrm rot="0" flipH="false" flipV="false">
            <a:off x="4445000" y="1651000"/>
            <a:ext cx="3302000" cy="4572000"/>
          </a:xfrm>
          <a:prstGeom prst="roundRect">
            <a:avLst>
              <a:gd name="adj" fmla="val 4615"/>
            </a:avLst>
          </a:prstGeom>
          <a:solidFill>
            <a:srgbClr val="FFFFFF">
              <a:alpha val="95000"/>
            </a:srgbClr>
          </a:solidFill>
          <a:ln w="12700" cmpd="sng" cap="flat">
            <a:solidFill>
              <a:srgbClr val="E5E7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9" id="9"/>
          <p:cNvSpPr/>
          <p:nvPr/>
        </p:nvSpPr>
        <p:spPr>
          <a:xfrm rot="0" flipH="false" flipV="false">
            <a:off x="4445000" y="1651000"/>
            <a:ext cx="3302000" cy="76200"/>
          </a:xfrm>
          <a:prstGeom prst="roundRect">
            <a:avLst>
              <a:gd name="adj" fmla="val 0"/>
            </a:avLst>
          </a:prstGeom>
          <a:solidFill>
            <a:srgbClr val="0A2540">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4699000" y="2095500"/>
            <a:ext cx="355600" cy="355600"/>
          </a:xfrm>
          <a:prstGeom prst="rect">
            <a:avLst/>
          </a:prstGeom>
        </p:spPr>
      </p:pic>
      <p:sp>
        <p:nvSpPr>
          <p:cNvPr name="AutoShape 11" id="11"/>
          <p:cNvSpPr/>
          <p:nvPr/>
        </p:nvSpPr>
        <p:spPr>
          <a:xfrm rot="0" flipH="false" flipV="false">
            <a:off x="5207000" y="2057400"/>
            <a:ext cx="2286000" cy="4445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0A2540"/>
                </a:solidFill>
                <a:latin typeface="Noto Sans SC"/>
                <a:ea typeface="Noto Sans SC"/>
                <a:cs typeface="Noto Sans SC"/>
                <a:sym typeface="Noto Sans SC"/>
              </a:rPr>
              <a:t>不足与改进方向</a:t>
            </a:r>
            <a:endParaRPr lang="en-US" sz="1100"/>
          </a:p>
        </p:txBody>
      </p:sp>
      <p:sp>
        <p:nvSpPr>
          <p:cNvPr name="AutoShape 12" id="12"/>
          <p:cNvSpPr/>
          <p:nvPr/>
        </p:nvSpPr>
        <p:spPr>
          <a:xfrm rot="0" flipH="false" flipV="false">
            <a:off x="4699000" y="2921000"/>
            <a:ext cx="2794000" cy="292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spcBef>
                <a:spcPts val="800"/>
              </a:spcBef>
              <a:defRPr/>
            </a:pPr>
            <a:r>
              <a:rPr lang="en-US" b="true" i="false" strike="noStrike" u="none" sz="1300">
                <a:solidFill>
                  <a:srgbClr val="0A2540"/>
                </a:solidFill>
                <a:latin typeface="Noto Sans SC"/>
                <a:ea typeface="Noto Sans SC"/>
                <a:cs typeface="Noto Sans SC"/>
                <a:sym typeface="Noto Sans SC"/>
              </a:rPr>
              <a:t>⚡️ 性能优化：</a:t>
            </a:r>
            <a:r>
              <a:rPr lang="en-US" b="false" i="false" strike="noStrike" u="none" sz="1300">
                <a:solidFill>
                  <a:srgbClr val="374151"/>
                </a:solidFill>
                <a:latin typeface="Noto Sans SC"/>
                <a:ea typeface="Noto Sans SC"/>
                <a:cs typeface="Noto Sans SC"/>
                <a:sym typeface="Noto Sans SC"/>
              </a:rPr>
              <a:t>引入多级缓存策略，优化核心数据库查询语句，提升高并发场景下的系统响应速度。</a:t>
            </a:r>
            <a:r>
              <a:rPr lang="en-US" b="false" i="false" strike="noStrike" u="none" sz="1300">
                <a:solidFill>
                  <a:srgbClr val="1F2329"/>
                </a:solidFill>
                <a:latin typeface="Noto Sans SC"/>
                <a:ea typeface="Noto Sans SC"/>
                <a:cs typeface="Noto Sans SC"/>
                <a:sym typeface="Noto Sans SC"/>
              </a:rPr>
              <a:t/>
            </a:r>
            <a:endParaRPr lang="en-US" sz="1100"/>
          </a:p>
          <a:p>
            <a:pPr algn="l" indent="0">
              <a:lnSpc>
                <a:spcPct val="125000"/>
              </a:lnSpc>
              <a:spcBef>
                <a:spcPts val="1200"/>
              </a:spcBef>
            </a:pPr>
            <a:r>
              <a:rPr lang="en-US" b="true" i="false" strike="noStrike" u="none" sz="1300">
                <a:solidFill>
                  <a:srgbClr val="0A2540"/>
                </a:solidFill>
                <a:latin typeface="Noto Sans SC"/>
                <a:ea typeface="Noto Sans SC"/>
                <a:cs typeface="Noto Sans SC"/>
                <a:sym typeface="Noto Sans SC"/>
              </a:rPr>
              <a:t>📈 功能扩展：</a:t>
            </a:r>
            <a:r>
              <a:rPr lang="en-US" b="false" i="false" strike="noStrike" u="none" sz="1300">
                <a:solidFill>
                  <a:srgbClr val="374151"/>
                </a:solidFill>
                <a:latin typeface="Noto Sans SC"/>
                <a:ea typeface="Noto Sans SC"/>
                <a:cs typeface="Noto Sans SC"/>
                <a:sym typeface="Noto Sans SC"/>
              </a:rPr>
              <a:t>补充优惠券营销、会员等级体系、积分系统及实时物流跟踪等复杂业务模块。</a:t>
            </a:r>
            <a:r>
              <a:rPr lang="en-US" b="false" i="false" strike="noStrike" u="none" sz="1300">
                <a:solidFill>
                  <a:srgbClr val="1F2329"/>
                </a:solidFill>
                <a:latin typeface="Noto Sans SC"/>
                <a:ea typeface="Noto Sans SC"/>
                <a:cs typeface="Noto Sans SC"/>
                <a:sym typeface="Noto Sans SC"/>
              </a:rPr>
              <a:t/>
            </a:r>
          </a:p>
          <a:p>
            <a:pPr algn="l" indent="0">
              <a:lnSpc>
                <a:spcPct val="125000"/>
              </a:lnSpc>
              <a:spcBef>
                <a:spcPts val="1200"/>
              </a:spcBef>
            </a:pPr>
            <a:r>
              <a:rPr lang="en-US" b="true" i="false" strike="noStrike" u="none" sz="1300">
                <a:solidFill>
                  <a:srgbClr val="0A2540"/>
                </a:solidFill>
                <a:latin typeface="Noto Sans SC"/>
                <a:ea typeface="Noto Sans SC"/>
                <a:cs typeface="Noto Sans SC"/>
                <a:sym typeface="Noto Sans SC"/>
              </a:rPr>
              <a:t>🌍 国际化与本地化：</a:t>
            </a:r>
            <a:r>
              <a:rPr lang="en-US" b="false" i="false" strike="noStrike" u="none" sz="1300">
                <a:solidFill>
                  <a:srgbClr val="374151"/>
                </a:solidFill>
                <a:latin typeface="Noto Sans SC"/>
                <a:ea typeface="Noto Sans SC"/>
                <a:cs typeface="Noto Sans SC"/>
                <a:sym typeface="Noto Sans SC"/>
              </a:rPr>
              <a:t>进一步增强多语言自动切换、多币种结算及本地化支付网关对接能力。</a:t>
            </a:r>
          </a:p>
        </p:txBody>
      </p:sp>
      <p:sp>
        <p:nvSpPr>
          <p:cNvPr name="AutoShape 13" id="13"/>
          <p:cNvSpPr/>
          <p:nvPr/>
        </p:nvSpPr>
        <p:spPr>
          <a:xfrm rot="0" flipH="false" flipV="false">
            <a:off x="8128000" y="1651000"/>
            <a:ext cx="3302000" cy="4572000"/>
          </a:xfrm>
          <a:prstGeom prst="roundRect">
            <a:avLst>
              <a:gd name="adj" fmla="val 4615"/>
            </a:avLst>
          </a:prstGeom>
          <a:solidFill>
            <a:srgbClr val="FFFFFF">
              <a:alpha val="95000"/>
            </a:srgbClr>
          </a:solidFill>
          <a:ln w="12700" cmpd="sng" cap="flat">
            <a:solidFill>
              <a:srgbClr val="E5E7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8128000" y="1651000"/>
            <a:ext cx="3302000" cy="76200"/>
          </a:xfrm>
          <a:prstGeom prst="roundRect">
            <a:avLst>
              <a:gd name="adj" fmla="val 0"/>
            </a:avLst>
          </a:prstGeom>
          <a:solidFill>
            <a:srgbClr val="4B9CD3">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5" id="15"/>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8382000" y="2095500"/>
            <a:ext cx="355600" cy="355600"/>
          </a:xfrm>
          <a:prstGeom prst="rect">
            <a:avLst/>
          </a:prstGeom>
        </p:spPr>
      </p:pic>
      <p:sp>
        <p:nvSpPr>
          <p:cNvPr name="AutoShape 16" id="16"/>
          <p:cNvSpPr/>
          <p:nvPr/>
        </p:nvSpPr>
        <p:spPr>
          <a:xfrm rot="0" flipH="false" flipV="false">
            <a:off x="8890000" y="2057400"/>
            <a:ext cx="2286000" cy="4445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0A2540"/>
                </a:solidFill>
                <a:latin typeface="Noto Sans SC"/>
                <a:ea typeface="Noto Sans SC"/>
                <a:cs typeface="Noto Sans SC"/>
                <a:sym typeface="Noto Sans SC"/>
              </a:rPr>
              <a:t>未来展望</a:t>
            </a:r>
            <a:endParaRPr lang="en-US" sz="1100"/>
          </a:p>
        </p:txBody>
      </p:sp>
      <p:sp>
        <p:nvSpPr>
          <p:cNvPr name="AutoShape 17" id="17"/>
          <p:cNvSpPr/>
          <p:nvPr/>
        </p:nvSpPr>
        <p:spPr>
          <a:xfrm rot="0" flipH="false" flipV="false">
            <a:off x="8382000" y="2921000"/>
            <a:ext cx="2794000" cy="2921000"/>
          </a:xfrm>
          <a:prstGeom prst="rect">
            <a:avLst/>
          </a:prstGeom>
          <a:noFill/>
          <a:ln w="12700" cmpd="sng" cap="flat">
            <a:noFill/>
            <a:prstDash val="solid"/>
            <a:round/>
          </a:ln>
        </p:spPr>
        <p:txBody>
          <a:bodyPr anchor="ctr" rtlCol="false" anchorCtr="false" vert="horz" wrap="square" lIns="0" rIns="0" tIns="0" bIns="0"/>
          <a:lstStyle/>
          <a:p>
            <a:pPr algn="l" indent="0">
              <a:lnSpc>
                <a:spcPct val="133333"/>
              </a:lnSpc>
              <a:spcBef>
                <a:spcPts val="800"/>
              </a:spcBef>
              <a:defRPr/>
            </a:pPr>
            <a:r>
              <a:rPr lang="en-US" b="false" i="false" strike="noStrike" u="none" sz="1300">
                <a:solidFill>
                  <a:srgbClr val="374151"/>
                </a:solidFill>
                <a:latin typeface="Noto Sans SC"/>
                <a:ea typeface="Noto Sans SC"/>
                <a:cs typeface="Noto Sans SC"/>
                <a:sym typeface="Noto Sans SC"/>
              </a:rPr>
              <a:t>本系统旨在为中小型跨境电商企业提供一套低成本、可落地的技术参考方案与实践案例，帮助企业快速搭建起数字化的独立销售渠道。</a:t>
            </a:r>
            <a:r>
              <a:rPr lang="en-US" b="false" i="false" strike="noStrike" u="none" sz="1300">
                <a:solidFill>
                  <a:srgbClr val="1F2329"/>
                </a:solidFill>
                <a:latin typeface="Noto Sans SC"/>
                <a:ea typeface="Noto Sans SC"/>
                <a:cs typeface="Noto Sans SC"/>
                <a:sym typeface="Noto Sans SC"/>
              </a:rPr>
              <a:t/>
            </a:r>
            <a:endParaRPr lang="en-US" sz="1100"/>
          </a:p>
          <a:p>
            <a:pPr algn="l" indent="0">
              <a:lnSpc>
                <a:spcPct val="133333"/>
              </a:lnSpc>
              <a:spcBef>
                <a:spcPts val="1600"/>
              </a:spcBef>
            </a:pPr>
            <a:r>
              <a:rPr lang="en-US" b="false" i="false" strike="noStrike" u="none" sz="1300">
                <a:solidFill>
                  <a:srgbClr val="374151"/>
                </a:solidFill>
                <a:latin typeface="Noto Sans SC"/>
                <a:ea typeface="Noto Sans SC"/>
                <a:cs typeface="Noto Sans SC"/>
                <a:sym typeface="Noto Sans SC"/>
              </a:rPr>
              <a:t>在未来的迭代中，可基于此单体架构向</a:t>
            </a:r>
            <a:r>
              <a:rPr lang="en-US" b="true" i="false" strike="noStrike" u="none" sz="1300">
                <a:solidFill>
                  <a:srgbClr val="4B9CD3"/>
                </a:solidFill>
                <a:latin typeface="Noto Sans SC"/>
                <a:ea typeface="Noto Sans SC"/>
                <a:cs typeface="Noto Sans SC"/>
                <a:sym typeface="Noto Sans SC"/>
              </a:rPr>
              <a:t>微服务架构</a:t>
            </a:r>
            <a:r>
              <a:rPr lang="en-US" b="false" i="false" strike="noStrike" u="none" sz="1300">
                <a:solidFill>
                  <a:srgbClr val="374151"/>
                </a:solidFill>
                <a:latin typeface="Noto Sans SC"/>
                <a:ea typeface="Noto Sans SC"/>
                <a:cs typeface="Noto Sans SC"/>
                <a:sym typeface="Noto Sans SC"/>
              </a:rPr>
              <a:t>进行演进，将订单、商品、用户等模块解耦，以支撑业务规模的快速增长与弹性扩展。</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A2540">
              <a:alpha val="6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0" y="2032000"/>
            <a:ext cx="12192000" cy="1016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4000">
                <a:solidFill>
                  <a:srgbClr val="FFFFFF"/>
                </a:solidFill>
                <a:latin typeface="Noto Sans SC"/>
                <a:ea typeface="Noto Sans SC"/>
                <a:cs typeface="Noto Sans SC"/>
                <a:sym typeface="Noto Sans SC"/>
              </a:rPr>
              <a:t>感谢各位老师的聆听与指导！</a:t>
            </a:r>
            <a:endParaRPr lang="en-US" sz="1100"/>
          </a:p>
        </p:txBody>
      </p:sp>
      <p:sp>
        <p:nvSpPr>
          <p:cNvPr name="AutoShape 4" id="4"/>
          <p:cNvSpPr/>
          <p:nvPr/>
        </p:nvSpPr>
        <p:spPr>
          <a:xfrm rot="0" flipH="false" flipV="false">
            <a:off x="0" y="3429000"/>
            <a:ext cx="12192000" cy="1397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6400">
                <a:solidFill>
                  <a:srgbClr val="FFFFFF"/>
                </a:solidFill>
                <a:latin typeface="Noto Sans SC"/>
                <a:ea typeface="Noto Sans SC"/>
                <a:cs typeface="Noto Sans SC"/>
                <a:sym typeface="Noto Sans SC"/>
              </a:rPr>
              <a:t>敬请批评指正</a:t>
            </a:r>
            <a:endParaRPr lang="en-US" sz="1100"/>
          </a:p>
        </p:txBody>
      </p:sp>
      <p:sp>
        <p:nvSpPr>
          <p:cNvPr name="AutoShape 5" id="5"/>
          <p:cNvSpPr/>
          <p:nvPr/>
        </p:nvSpPr>
        <p:spPr>
          <a:xfrm rot="0" flipH="false" flipV="false">
            <a:off x="0" y="5207000"/>
            <a:ext cx="12192000" cy="635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2000" spc="400">
                <a:solidFill>
                  <a:srgbClr val="FFFFFF">
                    <a:alpha val="74902"/>
                  </a:srgbClr>
                </a:solidFill>
                <a:latin typeface="Noto Sans SC"/>
                <a:ea typeface="Noto Sans SC"/>
                <a:cs typeface="Noto Sans SC"/>
                <a:sym typeface="Noto Sans SC"/>
              </a:rPr>
              <a:t>THANKS FOR LISTENING</a:t>
            </a:r>
            <a:endParaRPr lang="en-US" sz="1100"/>
          </a:p>
        </p:txBody>
      </p:sp>
      <p:pic>
        <p:nvPicPr>
          <p:cNvPr name="Picture 6" id="6"/>
          <p:cNvPicPr>
            <a:picLocks noChangeAspect="true"/>
          </p:cNvPicPr>
          <p:nvPr/>
        </p:nvPicPr>
        <p:blipFill>
          <a:blip r:embed="rId4"/>
          <a:stretch>
            <a:fillRect/>
          </a:stretch>
        </p:blipFill>
        <p:spPr>
          <a:xfrm>
            <a:off x="10668000" y="6190112"/>
            <a:ext cx="1524000" cy="667888"/>
          </a:xfrm>
          <a:prstGeom prst="rect">
            <a:avLst/>
          </a:prstGeom>
        </p:spPr>
      </p:pic>
    </p:spTree>
  </p:cSld>
  <p:clrMapOvr>
    <a:masterClrMapping/>
  </p:clrMapOvr>
</p:sld>
</file>

<file path=ppt/theme/theme1.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xsi="http://www.w3.org/2001/XMLSchema-instance"/>
</file>